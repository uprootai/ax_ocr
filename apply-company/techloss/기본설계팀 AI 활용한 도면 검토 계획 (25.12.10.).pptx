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14"/>
  </p:notesMasterIdLst>
  <p:sldIdLst>
    <p:sldId id="256" r:id="rId2"/>
    <p:sldId id="304" r:id="rId3"/>
    <p:sldId id="311" r:id="rId4"/>
    <p:sldId id="312" r:id="rId5"/>
    <p:sldId id="300" r:id="rId6"/>
    <p:sldId id="301" r:id="rId7"/>
    <p:sldId id="302" r:id="rId8"/>
    <p:sldId id="303" r:id="rId9"/>
    <p:sldId id="298" r:id="rId10"/>
    <p:sldId id="294" r:id="rId11"/>
    <p:sldId id="296" r:id="rId12"/>
    <p:sldId id="297" r:id="rId13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B9265"/>
    <a:srgbClr val="C3D4C1"/>
    <a:srgbClr val="0068B6"/>
    <a:srgbClr val="F8C668"/>
    <a:srgbClr val="DEB2BF"/>
    <a:srgbClr val="95C6FF"/>
    <a:srgbClr val="1F4E79"/>
    <a:srgbClr val="006600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335" autoAdjust="0"/>
  </p:normalViewPr>
  <p:slideViewPr>
    <p:cSldViewPr snapToGrid="0">
      <p:cViewPr varScale="1">
        <p:scale>
          <a:sx n="111" d="100"/>
          <a:sy n="111" d="100"/>
        </p:scale>
        <p:origin x="1386" y="9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056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056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r">
              <a:defRPr sz="1200"/>
            </a:lvl1pPr>
          </a:lstStyle>
          <a:p>
            <a:fld id="{F754A8A8-AC87-4FE3-A34A-DDD30B1CF0B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4" tIns="45717" rIns="91434" bIns="4571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34" tIns="45717" rIns="91434" bIns="45717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585"/>
            <a:ext cx="2945659" cy="498055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28585"/>
            <a:ext cx="2945659" cy="498055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r">
              <a:defRPr sz="1200"/>
            </a:lvl1pPr>
          </a:lstStyle>
          <a:p>
            <a:fld id="{AC3EBE48-350E-45A8-B018-8E7A025B63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06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FE3C2-E462-39B7-8062-6EB6AEA49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AF41B4-67BF-EE6F-38C8-13719B751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154AA0-7566-0A6B-24C2-9708698E1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5B51F0-1AF5-4570-9CED-9F8E32A61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761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BD701-20E9-FB26-D470-F1708E8FA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B5E096-ECE0-1E42-8742-8B4B0A0AD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C91B2C-DD71-9815-97FA-AD434465F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A692A5-CF92-09FA-F3E1-29D84ED86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711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69200-3132-ECDA-431F-7CD0CBDD4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BC7C0C-5B2F-2EDF-E8C3-609DB79B4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43B9AA-E36F-0B03-8B10-169BB7193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EC3296-3BE1-D5F0-FFC1-F9F22AFA7E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712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F51DE-0052-820C-2D7B-D8270C425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D5E4B9-F55B-837E-8C17-534DC153B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1A1136-9DED-6D9A-4257-279323B56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6BAD17-D9FC-F73F-F862-6551C7B818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237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6FA4E-B380-E826-6B08-BC281C7F6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5902D5-E280-7239-B8B6-97DA102EA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7D882F-5B69-4FA5-BBEB-25FA81712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AD7944-C83E-51E3-1889-082DB1F15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124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8C02D-8CEA-B2C7-7C12-CE1E3B499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28005B-6128-763F-A0AD-6A24E16D2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11D483-634A-451F-5050-60C418EC6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5B2E59-97DE-923F-8235-6A306D6E6D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283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21AEB-5C27-D8C4-2748-C8A8B7FA3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C41240-38CD-35E2-AF85-135E28817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656875-50E1-D4C2-F5A6-F5B62AF9D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1A9EF3-CED1-4222-93E4-1A252270F0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594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098EB-B517-7282-FD9A-DA07E00FD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154969-B537-1A72-DC27-84B0AD674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B67E05-36C3-19D9-1C70-737D138E7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B202C4-E40A-BFC1-CCC3-5D079B085B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446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3EDF5-4FE5-EF5F-CD05-761AD703C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482B87-0B3B-50E6-4ACA-81EF84376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1D176C-F253-6EAE-C1CA-113A86912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49109D-58BA-2108-16F5-DEE31B40EE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E48-350E-45A8-B018-8E7A025B630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822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테크로스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ED5265A-983A-41BB-93B4-E98957B16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3197"/>
            <a:ext cx="9896980" cy="402571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99D20F-4819-408B-965E-127920942B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50" y="317774"/>
            <a:ext cx="2616924" cy="72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3DED466-5EF1-49AA-A65F-C670E9B10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251" y="2876204"/>
            <a:ext cx="6247880" cy="1387013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DCA4AF-38D3-49C0-842E-2195D3036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251" y="4290206"/>
            <a:ext cx="6247880" cy="365126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597DCBC9-78B5-4299-B73E-6B4D26E950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2251" y="5897982"/>
            <a:ext cx="6247880" cy="31591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86298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테크로스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DED466-5EF1-49AA-A65F-C670E9B10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251" y="457199"/>
            <a:ext cx="6247880" cy="773084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목차 </a:t>
            </a:r>
            <a:r>
              <a:rPr lang="ko-KR" altLang="en-US" dirty="0"/>
              <a:t>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DCA4AF-38D3-49C0-842E-2195D303679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52250" y="2045067"/>
            <a:ext cx="6913073" cy="3965035"/>
          </a:xfrm>
        </p:spPr>
        <p:txBody>
          <a:bodyPr anchor="ctr">
            <a:normAutofit/>
          </a:bodyPr>
          <a:lstStyle>
            <a:lvl1pPr marL="342900" indent="-342900">
              <a:buFont typeface="+mj-lt"/>
              <a:buAutoNum type="arabicPeriod"/>
              <a:defRPr sz="1800">
                <a:solidFill>
                  <a:schemeClr val="tx2"/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목차 스타일을 편집하려면 클릭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D012F49-FFCD-4700-AB0F-1ACA081EF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" y="1529678"/>
            <a:ext cx="9904905" cy="21599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85ECB62-CF2D-4461-9855-06723FC895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066" y="6107239"/>
            <a:ext cx="1831848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022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테크로스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A4BF1C9-C16C-4C5B-84FF-673274B347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b="2769"/>
          <a:stretch/>
        </p:blipFill>
        <p:spPr>
          <a:xfrm>
            <a:off x="0" y="6507969"/>
            <a:ext cx="9906000" cy="35003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7A7E90D-8FB0-46DA-9811-92258D9AA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363" y="6579087"/>
            <a:ext cx="785077" cy="216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8C0E0F4-B845-4052-B2C1-781C5B49F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79AACE-D5A5-44F6-AF4A-7A8CBFC7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60" y="6589013"/>
            <a:ext cx="601098" cy="216000"/>
          </a:xfrm>
          <a:prstGeom prst="rect">
            <a:avLst/>
          </a:prstGeom>
        </p:spPr>
        <p:txBody>
          <a:bodyPr anchor="b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fld id="{4023EF87-A45C-453B-A701-D92E350860E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928058B-6081-421F-B85F-0577932DD50F}"/>
              </a:ext>
            </a:extLst>
          </p:cNvPr>
          <p:cNvCxnSpPr/>
          <p:nvPr/>
        </p:nvCxnSpPr>
        <p:spPr>
          <a:xfrm>
            <a:off x="202474" y="556552"/>
            <a:ext cx="950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948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테크로스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8BC3B77-2ADD-4774-9DAF-9F70BF39A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10" y="2500242"/>
            <a:ext cx="9911617" cy="40316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AEAB5A0-00AB-4DEA-B602-78C8DF32B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50" y="317774"/>
            <a:ext cx="2616924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92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-12982" y="-10736"/>
            <a:ext cx="9918982" cy="696536"/>
            <a:chOff x="-12982" y="-10736"/>
            <a:chExt cx="9918982" cy="696536"/>
          </a:xfrm>
        </p:grpSpPr>
        <p:sp>
          <p:nvSpPr>
            <p:cNvPr id="24" name="직사각형 23"/>
            <p:cNvSpPr/>
            <p:nvPr/>
          </p:nvSpPr>
          <p:spPr>
            <a:xfrm>
              <a:off x="0" y="2"/>
              <a:ext cx="9906000" cy="685798"/>
            </a:xfrm>
            <a:prstGeom prst="rect">
              <a:avLst/>
            </a:prstGeom>
            <a:gradFill>
              <a:gsLst>
                <a:gs pos="0">
                  <a:srgbClr val="69B8C9"/>
                </a:gs>
                <a:gs pos="100000">
                  <a:srgbClr val="6292B6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각 삼각형 24"/>
            <p:cNvSpPr/>
            <p:nvPr/>
          </p:nvSpPr>
          <p:spPr>
            <a:xfrm rot="5400000">
              <a:off x="-57089" y="33371"/>
              <a:ext cx="451132" cy="362918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114300" dir="2700000" sx="91000" sy="91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Freeform 7"/>
          <p:cNvSpPr>
            <a:spLocks/>
          </p:cNvSpPr>
          <p:nvPr/>
        </p:nvSpPr>
        <p:spPr bwMode="auto">
          <a:xfrm rot="6300000">
            <a:off x="9473972" y="6421066"/>
            <a:ext cx="316956" cy="322010"/>
          </a:xfrm>
          <a:custGeom>
            <a:avLst/>
            <a:gdLst>
              <a:gd name="T0" fmla="*/ 1387 w 2572"/>
              <a:gd name="T1" fmla="*/ 3 h 2613"/>
              <a:gd name="T2" fmla="*/ 1580 w 2572"/>
              <a:gd name="T3" fmla="*/ 34 h 2613"/>
              <a:gd name="T4" fmla="*/ 1765 w 2572"/>
              <a:gd name="T5" fmla="*/ 92 h 2613"/>
              <a:gd name="T6" fmla="*/ 1935 w 2572"/>
              <a:gd name="T7" fmla="*/ 176 h 2613"/>
              <a:gd name="T8" fmla="*/ 2090 w 2572"/>
              <a:gd name="T9" fmla="*/ 283 h 2613"/>
              <a:gd name="T10" fmla="*/ 2228 w 2572"/>
              <a:gd name="T11" fmla="*/ 411 h 2613"/>
              <a:gd name="T12" fmla="*/ 2346 w 2572"/>
              <a:gd name="T13" fmla="*/ 557 h 2613"/>
              <a:gd name="T14" fmla="*/ 2441 w 2572"/>
              <a:gd name="T15" fmla="*/ 720 h 2613"/>
              <a:gd name="T16" fmla="*/ 2512 w 2572"/>
              <a:gd name="T17" fmla="*/ 898 h 2613"/>
              <a:gd name="T18" fmla="*/ 2556 w 2572"/>
              <a:gd name="T19" fmla="*/ 1086 h 2613"/>
              <a:gd name="T20" fmla="*/ 2572 w 2572"/>
              <a:gd name="T21" fmla="*/ 1286 h 2613"/>
              <a:gd name="T22" fmla="*/ 2560 w 2572"/>
              <a:gd name="T23" fmla="*/ 1457 h 2613"/>
              <a:gd name="T24" fmla="*/ 2527 w 2572"/>
              <a:gd name="T25" fmla="*/ 1621 h 2613"/>
              <a:gd name="T26" fmla="*/ 2474 w 2572"/>
              <a:gd name="T27" fmla="*/ 1776 h 2613"/>
              <a:gd name="T28" fmla="*/ 2402 w 2572"/>
              <a:gd name="T29" fmla="*/ 1922 h 2613"/>
              <a:gd name="T30" fmla="*/ 1856 w 2572"/>
              <a:gd name="T31" fmla="*/ 2437 h 2613"/>
              <a:gd name="T32" fmla="*/ 1703 w 2572"/>
              <a:gd name="T33" fmla="*/ 2502 h 2613"/>
              <a:gd name="T34" fmla="*/ 1542 w 2572"/>
              <a:gd name="T35" fmla="*/ 2546 h 2613"/>
              <a:gd name="T36" fmla="*/ 1373 w 2572"/>
              <a:gd name="T37" fmla="*/ 2568 h 2613"/>
              <a:gd name="T38" fmla="*/ 1185 w 2572"/>
              <a:gd name="T39" fmla="*/ 2567 h 2613"/>
              <a:gd name="T40" fmla="*/ 992 w 2572"/>
              <a:gd name="T41" fmla="*/ 2538 h 2613"/>
              <a:gd name="T42" fmla="*/ 807 w 2572"/>
              <a:gd name="T43" fmla="*/ 2480 h 2613"/>
              <a:gd name="T44" fmla="*/ 637 w 2572"/>
              <a:gd name="T45" fmla="*/ 2396 h 2613"/>
              <a:gd name="T46" fmla="*/ 482 w 2572"/>
              <a:gd name="T47" fmla="*/ 2289 h 2613"/>
              <a:gd name="T48" fmla="*/ 344 w 2572"/>
              <a:gd name="T49" fmla="*/ 2161 h 2613"/>
              <a:gd name="T50" fmla="*/ 226 w 2572"/>
              <a:gd name="T51" fmla="*/ 2015 h 2613"/>
              <a:gd name="T52" fmla="*/ 131 w 2572"/>
              <a:gd name="T53" fmla="*/ 1851 h 2613"/>
              <a:gd name="T54" fmla="*/ 60 w 2572"/>
              <a:gd name="T55" fmla="*/ 1674 h 2613"/>
              <a:gd name="T56" fmla="*/ 16 w 2572"/>
              <a:gd name="T57" fmla="*/ 1484 h 2613"/>
              <a:gd name="T58" fmla="*/ 0 w 2572"/>
              <a:gd name="T59" fmla="*/ 1286 h 2613"/>
              <a:gd name="T60" fmla="*/ 16 w 2572"/>
              <a:gd name="T61" fmla="*/ 1086 h 2613"/>
              <a:gd name="T62" fmla="*/ 60 w 2572"/>
              <a:gd name="T63" fmla="*/ 898 h 2613"/>
              <a:gd name="T64" fmla="*/ 131 w 2572"/>
              <a:gd name="T65" fmla="*/ 720 h 2613"/>
              <a:gd name="T66" fmla="*/ 226 w 2572"/>
              <a:gd name="T67" fmla="*/ 557 h 2613"/>
              <a:gd name="T68" fmla="*/ 344 w 2572"/>
              <a:gd name="T69" fmla="*/ 411 h 2613"/>
              <a:gd name="T70" fmla="*/ 482 w 2572"/>
              <a:gd name="T71" fmla="*/ 283 h 2613"/>
              <a:gd name="T72" fmla="*/ 637 w 2572"/>
              <a:gd name="T73" fmla="*/ 176 h 2613"/>
              <a:gd name="T74" fmla="*/ 807 w 2572"/>
              <a:gd name="T75" fmla="*/ 92 h 2613"/>
              <a:gd name="T76" fmla="*/ 992 w 2572"/>
              <a:gd name="T77" fmla="*/ 34 h 2613"/>
              <a:gd name="T78" fmla="*/ 1185 w 2572"/>
              <a:gd name="T79" fmla="*/ 3 h 2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72" h="2613">
                <a:moveTo>
                  <a:pt x="1286" y="0"/>
                </a:moveTo>
                <a:lnTo>
                  <a:pt x="1387" y="3"/>
                </a:lnTo>
                <a:lnTo>
                  <a:pt x="1485" y="16"/>
                </a:lnTo>
                <a:lnTo>
                  <a:pt x="1580" y="34"/>
                </a:lnTo>
                <a:lnTo>
                  <a:pt x="1674" y="60"/>
                </a:lnTo>
                <a:lnTo>
                  <a:pt x="1765" y="92"/>
                </a:lnTo>
                <a:lnTo>
                  <a:pt x="1851" y="130"/>
                </a:lnTo>
                <a:lnTo>
                  <a:pt x="1935" y="176"/>
                </a:lnTo>
                <a:lnTo>
                  <a:pt x="2015" y="226"/>
                </a:lnTo>
                <a:lnTo>
                  <a:pt x="2090" y="283"/>
                </a:lnTo>
                <a:lnTo>
                  <a:pt x="2161" y="344"/>
                </a:lnTo>
                <a:lnTo>
                  <a:pt x="2228" y="411"/>
                </a:lnTo>
                <a:lnTo>
                  <a:pt x="2289" y="482"/>
                </a:lnTo>
                <a:lnTo>
                  <a:pt x="2346" y="557"/>
                </a:lnTo>
                <a:lnTo>
                  <a:pt x="2396" y="637"/>
                </a:lnTo>
                <a:lnTo>
                  <a:pt x="2441" y="720"/>
                </a:lnTo>
                <a:lnTo>
                  <a:pt x="2480" y="807"/>
                </a:lnTo>
                <a:lnTo>
                  <a:pt x="2512" y="898"/>
                </a:lnTo>
                <a:lnTo>
                  <a:pt x="2538" y="990"/>
                </a:lnTo>
                <a:lnTo>
                  <a:pt x="2556" y="1086"/>
                </a:lnTo>
                <a:lnTo>
                  <a:pt x="2567" y="1185"/>
                </a:lnTo>
                <a:lnTo>
                  <a:pt x="2572" y="1286"/>
                </a:lnTo>
                <a:lnTo>
                  <a:pt x="2569" y="1372"/>
                </a:lnTo>
                <a:lnTo>
                  <a:pt x="2560" y="1457"/>
                </a:lnTo>
                <a:lnTo>
                  <a:pt x="2546" y="1539"/>
                </a:lnTo>
                <a:lnTo>
                  <a:pt x="2527" y="1621"/>
                </a:lnTo>
                <a:lnTo>
                  <a:pt x="2502" y="1699"/>
                </a:lnTo>
                <a:lnTo>
                  <a:pt x="2474" y="1776"/>
                </a:lnTo>
                <a:lnTo>
                  <a:pt x="2439" y="1850"/>
                </a:lnTo>
                <a:lnTo>
                  <a:pt x="2402" y="1922"/>
                </a:lnTo>
                <a:lnTo>
                  <a:pt x="2521" y="2613"/>
                </a:lnTo>
                <a:lnTo>
                  <a:pt x="1856" y="2437"/>
                </a:lnTo>
                <a:lnTo>
                  <a:pt x="1780" y="2471"/>
                </a:lnTo>
                <a:lnTo>
                  <a:pt x="1703" y="2502"/>
                </a:lnTo>
                <a:lnTo>
                  <a:pt x="1623" y="2527"/>
                </a:lnTo>
                <a:lnTo>
                  <a:pt x="1542" y="2546"/>
                </a:lnTo>
                <a:lnTo>
                  <a:pt x="1458" y="2560"/>
                </a:lnTo>
                <a:lnTo>
                  <a:pt x="1373" y="2568"/>
                </a:lnTo>
                <a:lnTo>
                  <a:pt x="1286" y="2571"/>
                </a:lnTo>
                <a:lnTo>
                  <a:pt x="1185" y="2567"/>
                </a:lnTo>
                <a:lnTo>
                  <a:pt x="1087" y="2556"/>
                </a:lnTo>
                <a:lnTo>
                  <a:pt x="992" y="2538"/>
                </a:lnTo>
                <a:lnTo>
                  <a:pt x="898" y="2512"/>
                </a:lnTo>
                <a:lnTo>
                  <a:pt x="807" y="2480"/>
                </a:lnTo>
                <a:lnTo>
                  <a:pt x="721" y="2440"/>
                </a:lnTo>
                <a:lnTo>
                  <a:pt x="637" y="2396"/>
                </a:lnTo>
                <a:lnTo>
                  <a:pt x="557" y="2346"/>
                </a:lnTo>
                <a:lnTo>
                  <a:pt x="482" y="2289"/>
                </a:lnTo>
                <a:lnTo>
                  <a:pt x="411" y="2227"/>
                </a:lnTo>
                <a:lnTo>
                  <a:pt x="344" y="2161"/>
                </a:lnTo>
                <a:lnTo>
                  <a:pt x="283" y="2090"/>
                </a:lnTo>
                <a:lnTo>
                  <a:pt x="226" y="2015"/>
                </a:lnTo>
                <a:lnTo>
                  <a:pt x="176" y="1935"/>
                </a:lnTo>
                <a:lnTo>
                  <a:pt x="131" y="1851"/>
                </a:lnTo>
                <a:lnTo>
                  <a:pt x="92" y="1763"/>
                </a:lnTo>
                <a:lnTo>
                  <a:pt x="60" y="1674"/>
                </a:lnTo>
                <a:lnTo>
                  <a:pt x="34" y="1580"/>
                </a:lnTo>
                <a:lnTo>
                  <a:pt x="16" y="1484"/>
                </a:lnTo>
                <a:lnTo>
                  <a:pt x="5" y="1386"/>
                </a:lnTo>
                <a:lnTo>
                  <a:pt x="0" y="1286"/>
                </a:lnTo>
                <a:lnTo>
                  <a:pt x="5" y="1185"/>
                </a:lnTo>
                <a:lnTo>
                  <a:pt x="16" y="1086"/>
                </a:lnTo>
                <a:lnTo>
                  <a:pt x="34" y="990"/>
                </a:lnTo>
                <a:lnTo>
                  <a:pt x="60" y="898"/>
                </a:lnTo>
                <a:lnTo>
                  <a:pt x="92" y="807"/>
                </a:lnTo>
                <a:lnTo>
                  <a:pt x="131" y="720"/>
                </a:lnTo>
                <a:lnTo>
                  <a:pt x="176" y="637"/>
                </a:lnTo>
                <a:lnTo>
                  <a:pt x="226" y="557"/>
                </a:lnTo>
                <a:lnTo>
                  <a:pt x="283" y="482"/>
                </a:lnTo>
                <a:lnTo>
                  <a:pt x="344" y="411"/>
                </a:lnTo>
                <a:lnTo>
                  <a:pt x="411" y="344"/>
                </a:lnTo>
                <a:lnTo>
                  <a:pt x="482" y="283"/>
                </a:lnTo>
                <a:lnTo>
                  <a:pt x="557" y="226"/>
                </a:lnTo>
                <a:lnTo>
                  <a:pt x="637" y="176"/>
                </a:lnTo>
                <a:lnTo>
                  <a:pt x="721" y="130"/>
                </a:lnTo>
                <a:lnTo>
                  <a:pt x="807" y="92"/>
                </a:lnTo>
                <a:lnTo>
                  <a:pt x="898" y="60"/>
                </a:lnTo>
                <a:lnTo>
                  <a:pt x="992" y="34"/>
                </a:lnTo>
                <a:lnTo>
                  <a:pt x="1087" y="16"/>
                </a:lnTo>
                <a:lnTo>
                  <a:pt x="1185" y="3"/>
                </a:lnTo>
                <a:lnTo>
                  <a:pt x="1286" y="0"/>
                </a:lnTo>
                <a:close/>
              </a:path>
            </a:pathLst>
          </a:custGeom>
          <a:gradFill>
            <a:gsLst>
              <a:gs pos="0">
                <a:srgbClr val="69B8C9"/>
              </a:gs>
              <a:gs pos="100000">
                <a:srgbClr val="6292B6"/>
              </a:gs>
            </a:gsLst>
            <a:lin ang="18000000" scaled="0"/>
          </a:gradFill>
          <a:ln w="0">
            <a:noFill/>
            <a:prstDash val="solid"/>
            <a:round/>
            <a:headEnd/>
            <a:tailEnd/>
          </a:ln>
          <a:effectLst/>
        </p:spPr>
        <p:txBody>
          <a:bodyPr vert="horz" wrap="square" lIns="91440" tIns="0" rIns="91440" bIns="21600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50000"/>
              </a:lnSpc>
            </a:pP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야놀자 야체 B" panose="02020603020101020101" pitchFamily="18" charset="-127"/>
              <a:ea typeface="야놀자 야체 B" panose="02020603020101020101" pitchFamily="18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 flipH="1">
            <a:off x="212298" y="6696912"/>
            <a:ext cx="925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184386" y="6534150"/>
            <a:ext cx="56914" cy="190500"/>
          </a:xfrm>
          <a:prstGeom prst="rect">
            <a:avLst/>
          </a:prstGeom>
          <a:gradFill>
            <a:gsLst>
              <a:gs pos="0">
                <a:srgbClr val="69B8C9"/>
              </a:gs>
              <a:gs pos="100000">
                <a:srgbClr val="6292B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날짜 개체 틀 27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9B0EA606-32A9-496E-BF5C-545A902E9880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29" name="바닥글 개체 틀 28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0" name="슬라이드 번호 개체 틀 29"/>
          <p:cNvSpPr>
            <a:spLocks noGrp="1"/>
          </p:cNvSpPr>
          <p:nvPr userDrawn="1">
            <p:ph type="sldNum" sz="quarter" idx="12"/>
          </p:nvPr>
        </p:nvSpPr>
        <p:spPr>
          <a:xfrm>
            <a:off x="7530600" y="6391186"/>
            <a:ext cx="222885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28FF85-92AF-490F-BCF5-C037451A196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31" name="그림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3938" y="240123"/>
            <a:ext cx="1160780" cy="32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803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1127CE7-9BC5-4EED-85A9-5066A11B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테크로스 마스터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B97849-2B75-4FA3-A7A4-A3C7A5E25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새 슬라이드를 추가하여 내용 작성할 것</a:t>
            </a:r>
          </a:p>
        </p:txBody>
      </p:sp>
    </p:spTree>
    <p:extLst>
      <p:ext uri="{BB962C8B-B14F-4D97-AF65-F5344CB8AC3E}">
        <p14:creationId xmlns:p14="http://schemas.microsoft.com/office/powerpoint/2010/main" val="2551943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3" r:id="rId2"/>
    <p:sldLayoutId id="2147483711" r:id="rId3"/>
    <p:sldLayoutId id="2147483712" r:id="rId4"/>
    <p:sldLayoutId id="2147483714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EC3F22D-EF8E-B950-AFAB-2BC4CBE5BE3A}"/>
              </a:ext>
            </a:extLst>
          </p:cNvPr>
          <p:cNvSpPr txBox="1">
            <a:spLocks/>
          </p:cNvSpPr>
          <p:nvPr/>
        </p:nvSpPr>
        <p:spPr>
          <a:xfrm>
            <a:off x="214532" y="1506878"/>
            <a:ext cx="6965914" cy="1387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>
                <a:solidFill>
                  <a:schemeClr val="accent1"/>
                </a:solidFill>
              </a:rPr>
              <a:t>기본설계팀 도면 검토 </a:t>
            </a:r>
            <a:r>
              <a:rPr lang="en-US" altLang="ko-KR" sz="3200" b="1" dirty="0">
                <a:solidFill>
                  <a:schemeClr val="accent1"/>
                </a:solidFill>
              </a:rPr>
              <a:t>AI </a:t>
            </a:r>
            <a:r>
              <a:rPr lang="ko-KR" altLang="en-US" sz="3200" b="1" dirty="0">
                <a:solidFill>
                  <a:schemeClr val="accent1"/>
                </a:solidFill>
              </a:rPr>
              <a:t>개발 로드맵 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995FB9E6-1131-647A-E800-662892F9153D}"/>
              </a:ext>
            </a:extLst>
          </p:cNvPr>
          <p:cNvSpPr txBox="1">
            <a:spLocks/>
          </p:cNvSpPr>
          <p:nvPr/>
        </p:nvSpPr>
        <p:spPr>
          <a:xfrm>
            <a:off x="743608" y="4737461"/>
            <a:ext cx="6247880" cy="365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기본설계팀</a:t>
            </a: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59F03AF6-B40C-A194-A7F8-65032C9B630D}"/>
              </a:ext>
            </a:extLst>
          </p:cNvPr>
          <p:cNvSpPr txBox="1">
            <a:spLocks/>
          </p:cNvSpPr>
          <p:nvPr/>
        </p:nvSpPr>
        <p:spPr>
          <a:xfrm>
            <a:off x="743608" y="5102587"/>
            <a:ext cx="6247880" cy="315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25. 1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２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０４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65786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2C98A-73D0-0541-BF62-C69B6F0BC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B4F89C6-2C8E-951C-C408-8770FE0EA95C}"/>
              </a:ext>
            </a:extLst>
          </p:cNvPr>
          <p:cNvSpPr/>
          <p:nvPr/>
        </p:nvSpPr>
        <p:spPr>
          <a:xfrm>
            <a:off x="3188225" y="1185912"/>
            <a:ext cx="1266524" cy="3700413"/>
          </a:xfrm>
          <a:prstGeom prst="roundRect">
            <a:avLst/>
          </a:prstGeom>
          <a:solidFill>
            <a:srgbClr val="F8C6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112" name="사각형: 둥근 모서리 1111">
            <a:extLst>
              <a:ext uri="{FF2B5EF4-FFF2-40B4-BE49-F238E27FC236}">
                <a16:creationId xmlns:a16="http://schemas.microsoft.com/office/drawing/2014/main" id="{FBAE8CC4-1013-3618-3201-6E310F4F6241}"/>
              </a:ext>
            </a:extLst>
          </p:cNvPr>
          <p:cNvSpPr/>
          <p:nvPr/>
        </p:nvSpPr>
        <p:spPr>
          <a:xfrm>
            <a:off x="3188225" y="1187474"/>
            <a:ext cx="1266524" cy="370041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06" name="사각형: 둥근 모서리 1105">
            <a:extLst>
              <a:ext uri="{FF2B5EF4-FFF2-40B4-BE49-F238E27FC236}">
                <a16:creationId xmlns:a16="http://schemas.microsoft.com/office/drawing/2014/main" id="{91137001-C67B-FBCF-165B-7B5D6979283E}"/>
              </a:ext>
            </a:extLst>
          </p:cNvPr>
          <p:cNvSpPr/>
          <p:nvPr/>
        </p:nvSpPr>
        <p:spPr>
          <a:xfrm>
            <a:off x="3194704" y="1185912"/>
            <a:ext cx="1266524" cy="1881138"/>
          </a:xfrm>
          <a:prstGeom prst="roundRect">
            <a:avLst/>
          </a:prstGeom>
          <a:solidFill>
            <a:srgbClr val="F8C6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035" name="직선 연결선 1034">
            <a:extLst>
              <a:ext uri="{FF2B5EF4-FFF2-40B4-BE49-F238E27FC236}">
                <a16:creationId xmlns:a16="http://schemas.microsoft.com/office/drawing/2014/main" id="{C6AAC669-F8D8-2347-93A2-50DE6826781D}"/>
              </a:ext>
            </a:extLst>
          </p:cNvPr>
          <p:cNvCxnSpPr/>
          <p:nvPr/>
        </p:nvCxnSpPr>
        <p:spPr>
          <a:xfrm>
            <a:off x="3188226" y="2470915"/>
            <a:ext cx="1266524" cy="0"/>
          </a:xfrm>
          <a:prstGeom prst="line">
            <a:avLst/>
          </a:prstGeom>
          <a:ln w="63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직선 연결선 1055">
            <a:extLst>
              <a:ext uri="{FF2B5EF4-FFF2-40B4-BE49-F238E27FC236}">
                <a16:creationId xmlns:a16="http://schemas.microsoft.com/office/drawing/2014/main" id="{622539D6-65DA-7CB0-C642-D6B7BA5D544B}"/>
              </a:ext>
            </a:extLst>
          </p:cNvPr>
          <p:cNvCxnSpPr/>
          <p:nvPr/>
        </p:nvCxnSpPr>
        <p:spPr>
          <a:xfrm>
            <a:off x="3188226" y="3676731"/>
            <a:ext cx="1266524" cy="0"/>
          </a:xfrm>
          <a:prstGeom prst="line">
            <a:avLst/>
          </a:prstGeom>
          <a:ln w="63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478E6ED4-D221-D381-8A07-19319FCDE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4" y="210348"/>
            <a:ext cx="8973352" cy="3600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I. AI </a:t>
            </a:r>
            <a:r>
              <a:rPr lang="ko-KR" altLang="en-US" dirty="0"/>
              <a:t>활용한 도면 검토</a:t>
            </a:r>
          </a:p>
        </p:txBody>
      </p:sp>
      <p:sp>
        <p:nvSpPr>
          <p:cNvPr id="30" name="제목 1">
            <a:extLst>
              <a:ext uri="{FF2B5EF4-FFF2-40B4-BE49-F238E27FC236}">
                <a16:creationId xmlns:a16="http://schemas.microsoft.com/office/drawing/2014/main" id="{F0AD0829-E3F9-C3EA-EE34-9D4C6B2C8EC2}"/>
              </a:ext>
            </a:extLst>
          </p:cNvPr>
          <p:cNvSpPr txBox="1">
            <a:spLocks/>
          </p:cNvSpPr>
          <p:nvPr/>
        </p:nvSpPr>
        <p:spPr>
          <a:xfrm>
            <a:off x="199526" y="619787"/>
            <a:ext cx="9504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>
                <a:solidFill>
                  <a:schemeClr val="tx1"/>
                </a:solidFill>
                <a:latin typeface="+mj-ea"/>
              </a:rPr>
              <a:t>1. </a:t>
            </a:r>
            <a:r>
              <a:rPr lang="ko-KR" altLang="en-US" sz="1600" b="1" dirty="0" err="1">
                <a:solidFill>
                  <a:schemeClr val="tx1"/>
                </a:solidFill>
                <a:latin typeface="+mj-ea"/>
              </a:rPr>
              <a:t>멀티모달</a:t>
            </a:r>
            <a:r>
              <a:rPr lang="ko-KR" altLang="en-US" sz="1600" b="1" dirty="0">
                <a:solidFill>
                  <a:schemeClr val="tx1"/>
                </a:solidFill>
                <a:latin typeface="+mj-ea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+mj-ea"/>
              </a:rPr>
              <a:t>AI</a:t>
            </a:r>
            <a:endParaRPr lang="ko-KR" altLang="en-US" sz="1600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16829BD4-7EE0-251B-B507-8705F3BBEEF7}"/>
              </a:ext>
            </a:extLst>
          </p:cNvPr>
          <p:cNvSpPr txBox="1">
            <a:spLocks/>
          </p:cNvSpPr>
          <p:nvPr/>
        </p:nvSpPr>
        <p:spPr>
          <a:xfrm>
            <a:off x="844553" y="4473310"/>
            <a:ext cx="8213946" cy="2271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300" dirty="0">
                <a:solidFill>
                  <a:schemeClr val="tx1"/>
                </a:solidFill>
                <a:latin typeface="+mn-ea"/>
                <a:ea typeface="+mn-ea"/>
              </a:rPr>
              <a:t>현재 사용 중인 </a:t>
            </a:r>
            <a:r>
              <a:rPr lang="en-US" altLang="ko-KR" sz="1300" dirty="0">
                <a:solidFill>
                  <a:schemeClr val="tx1"/>
                </a:solidFill>
                <a:latin typeface="+mn-ea"/>
                <a:ea typeface="+mn-ea"/>
              </a:rPr>
              <a:t>GPT</a:t>
            </a:r>
            <a:r>
              <a:rPr lang="ko-KR" altLang="en-US" sz="1300" dirty="0">
                <a:solidFill>
                  <a:schemeClr val="tx1"/>
                </a:solidFill>
                <a:latin typeface="+mn-ea"/>
                <a:ea typeface="+mn-ea"/>
              </a:rPr>
              <a:t>는 상용 </a:t>
            </a:r>
            <a:r>
              <a:rPr lang="en-US" altLang="ko-KR" sz="1300" dirty="0">
                <a:solidFill>
                  <a:schemeClr val="tx1"/>
                </a:solidFill>
                <a:latin typeface="+mn-ea"/>
                <a:ea typeface="+mn-ea"/>
              </a:rPr>
              <a:t>AI </a:t>
            </a:r>
            <a:r>
              <a:rPr lang="ko-KR" altLang="en-US" sz="1300" dirty="0">
                <a:solidFill>
                  <a:schemeClr val="tx1"/>
                </a:solidFill>
                <a:latin typeface="+mn-ea"/>
                <a:ea typeface="+mn-ea"/>
              </a:rPr>
              <a:t>로</a:t>
            </a:r>
            <a:r>
              <a:rPr lang="en-US" altLang="ko-KR" sz="1300" dirty="0">
                <a:solidFill>
                  <a:schemeClr val="tx1"/>
                </a:solidFill>
                <a:latin typeface="+mn-ea"/>
                <a:ea typeface="+mn-ea"/>
              </a:rPr>
              <a:t> LLM(</a:t>
            </a:r>
            <a:r>
              <a:rPr lang="ko-KR" altLang="en-US" sz="1300" dirty="0">
                <a:solidFill>
                  <a:schemeClr val="tx1"/>
                </a:solidFill>
                <a:latin typeface="+mn-ea"/>
                <a:ea typeface="+mn-ea"/>
              </a:rPr>
              <a:t>대규모 언어 모델</a:t>
            </a:r>
            <a:r>
              <a:rPr lang="en-US" altLang="ko-KR" sz="1300" dirty="0">
                <a:solidFill>
                  <a:schemeClr val="tx1"/>
                </a:solidFill>
                <a:latin typeface="+mn-ea"/>
                <a:ea typeface="+mn-ea"/>
              </a:rPr>
              <a:t>) </a:t>
            </a:r>
            <a:r>
              <a:rPr lang="ko-KR" altLang="en-US" sz="1300" dirty="0">
                <a:solidFill>
                  <a:schemeClr val="tx1"/>
                </a:solidFill>
                <a:latin typeface="+mn-ea"/>
                <a:ea typeface="+mn-ea"/>
              </a:rPr>
              <a:t>성격이 강해 도면과 같은 이미지 파일을 인식하지 못 하여 답변의 신뢰성이 떨어져 도면 검토에는 근본적 어려움이 있음</a:t>
            </a:r>
            <a:r>
              <a:rPr lang="en-US" altLang="ko-KR" sz="13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300" dirty="0">
                <a:solidFill>
                  <a:schemeClr val="tx1"/>
                </a:solidFill>
                <a:latin typeface="+mn-ea"/>
                <a:ea typeface="+mn-ea"/>
              </a:rPr>
              <a:t>외주 업체와 협업하여 이미지를 사람처럼 이해하고 처리하는 </a:t>
            </a:r>
            <a:r>
              <a:rPr lang="ko-KR" altLang="en-US" sz="1300" dirty="0" err="1">
                <a:solidFill>
                  <a:schemeClr val="tx1"/>
                </a:solidFill>
                <a:latin typeface="+mn-ea"/>
                <a:ea typeface="+mn-ea"/>
              </a:rPr>
              <a:t>멀티모달</a:t>
            </a:r>
            <a:r>
              <a:rPr lang="ko-KR" altLang="en-US" sz="13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300" dirty="0">
                <a:solidFill>
                  <a:schemeClr val="tx1"/>
                </a:solidFill>
                <a:latin typeface="+mn-ea"/>
                <a:ea typeface="+mn-ea"/>
              </a:rPr>
              <a:t>AI</a:t>
            </a:r>
            <a:r>
              <a:rPr lang="ko-KR" altLang="en-US" sz="1300" dirty="0">
                <a:solidFill>
                  <a:schemeClr val="tx1"/>
                </a:solidFill>
                <a:latin typeface="+mn-ea"/>
                <a:ea typeface="+mn-ea"/>
              </a:rPr>
              <a:t>를 자체적으로 개발 할 예정</a:t>
            </a:r>
            <a:endParaRPr lang="en-US" altLang="ko-KR" sz="13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026" name="Picture 2" descr="내가 카톡 프사 안 하는 이유 (카카오톡 프로필 사진 유형, 안 올리는 심리) : 네이버 블로그">
            <a:extLst>
              <a:ext uri="{FF2B5EF4-FFF2-40B4-BE49-F238E27FC236}">
                <a16:creationId xmlns:a16="http://schemas.microsoft.com/office/drawing/2014/main" id="{CE91E84F-D4B4-763B-FFE4-793E8C62B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444" y="1261268"/>
            <a:ext cx="432814" cy="431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68347BF-8E4F-F711-DD9C-9D9A23AF1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99" y="1724724"/>
            <a:ext cx="2552938" cy="641800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904AD40F-0140-C544-B698-233E9D83A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999" y="2752903"/>
            <a:ext cx="2631185" cy="1847657"/>
          </a:xfrm>
          <a:prstGeom prst="rect">
            <a:avLst/>
          </a:prstGeom>
        </p:spPr>
      </p:pic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9C95E99B-645B-B325-D4C1-51DD0BE2B6C4}"/>
              </a:ext>
            </a:extLst>
          </p:cNvPr>
          <p:cNvGrpSpPr/>
          <p:nvPr/>
        </p:nvGrpSpPr>
        <p:grpSpPr>
          <a:xfrm>
            <a:off x="4806787" y="1376738"/>
            <a:ext cx="1771901" cy="1195190"/>
            <a:chOff x="5168827" y="1092874"/>
            <a:chExt cx="1771901" cy="1195190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D8135B01-68EC-08FF-5395-CD51C05B6357}"/>
                </a:ext>
              </a:extLst>
            </p:cNvPr>
            <p:cNvGrpSpPr/>
            <p:nvPr/>
          </p:nvGrpSpPr>
          <p:grpSpPr>
            <a:xfrm>
              <a:off x="5168827" y="1092874"/>
              <a:ext cx="1771901" cy="1195190"/>
              <a:chOff x="5052115" y="1029226"/>
              <a:chExt cx="1771901" cy="1195190"/>
            </a:xfrm>
          </p:grpSpPr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0A0E3557-55D9-A290-ACDE-C6889E8DD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b="96861"/>
              <a:stretch>
                <a:fillRect/>
              </a:stretch>
            </p:blipFill>
            <p:spPr>
              <a:xfrm>
                <a:off x="5052119" y="1029226"/>
                <a:ext cx="1771897" cy="199499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3259D11B-2A93-25AB-26A2-2DCC67CCFB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t="7136" b="88479"/>
              <a:stretch>
                <a:fillRect/>
              </a:stretch>
            </p:blipFill>
            <p:spPr>
              <a:xfrm>
                <a:off x="5052118" y="1228725"/>
                <a:ext cx="1771897" cy="278718"/>
              </a:xfrm>
              <a:prstGeom prst="rect">
                <a:avLst/>
              </a:prstGeom>
            </p:spPr>
          </p:pic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67EFCBEC-18AF-AA35-8F57-341E127A83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t="28446" b="67169"/>
              <a:stretch>
                <a:fillRect/>
              </a:stretch>
            </p:blipFill>
            <p:spPr>
              <a:xfrm>
                <a:off x="5052116" y="1457837"/>
                <a:ext cx="1771897" cy="278719"/>
              </a:xfrm>
              <a:prstGeom prst="rect">
                <a:avLst/>
              </a:prstGeom>
            </p:spPr>
          </p:pic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D152F7E3-0AF6-84D7-1BEB-B45306045A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t="76162" b="21440"/>
              <a:stretch>
                <a:fillRect/>
              </a:stretch>
            </p:blipFill>
            <p:spPr>
              <a:xfrm>
                <a:off x="5052116" y="1813240"/>
                <a:ext cx="1771897" cy="152400"/>
              </a:xfrm>
              <a:prstGeom prst="rect">
                <a:avLst/>
              </a:prstGeom>
            </p:spPr>
          </p:pic>
          <p:pic>
            <p:nvPicPr>
              <p:cNvPr id="36" name="그림 35">
                <a:extLst>
                  <a:ext uri="{FF2B5EF4-FFF2-40B4-BE49-F238E27FC236}">
                    <a16:creationId xmlns:a16="http://schemas.microsoft.com/office/drawing/2014/main" id="{BEC76631-556F-BEE1-A6BF-7A80FAE260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t="97420" b="-559"/>
              <a:stretch>
                <a:fillRect/>
              </a:stretch>
            </p:blipFill>
            <p:spPr>
              <a:xfrm>
                <a:off x="5052115" y="2024917"/>
                <a:ext cx="1771897" cy="199499"/>
              </a:xfrm>
              <a:prstGeom prst="rect">
                <a:avLst/>
              </a:prstGeom>
            </p:spPr>
          </p:pic>
        </p:grpSp>
        <p:sp>
          <p:nvSpPr>
            <p:cNvPr id="1028" name="직사각형 1027">
              <a:extLst>
                <a:ext uri="{FF2B5EF4-FFF2-40B4-BE49-F238E27FC236}">
                  <a16:creationId xmlns:a16="http://schemas.microsoft.com/office/drawing/2014/main" id="{20B30631-2711-3A34-DB0D-A969FFE9E0D8}"/>
                </a:ext>
              </a:extLst>
            </p:cNvPr>
            <p:cNvSpPr/>
            <p:nvPr/>
          </p:nvSpPr>
          <p:spPr>
            <a:xfrm>
              <a:off x="5223918" y="1104514"/>
              <a:ext cx="1701566" cy="11625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032" name="직선 화살표 연결선 1031">
            <a:extLst>
              <a:ext uri="{FF2B5EF4-FFF2-40B4-BE49-F238E27FC236}">
                <a16:creationId xmlns:a16="http://schemas.microsoft.com/office/drawing/2014/main" id="{3F50ED76-0300-DBAA-5E2E-0239A8513F4C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2859184" y="3676731"/>
            <a:ext cx="3290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연결선: 꺾임 1036">
            <a:extLst>
              <a:ext uri="{FF2B5EF4-FFF2-40B4-BE49-F238E27FC236}">
                <a16:creationId xmlns:a16="http://schemas.microsoft.com/office/drawing/2014/main" id="{77EDAE86-CDFC-3BD5-8D01-D9E0E69794E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482373" y="2116360"/>
            <a:ext cx="534419" cy="1746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직선 연결선 1054">
            <a:extLst>
              <a:ext uri="{FF2B5EF4-FFF2-40B4-BE49-F238E27FC236}">
                <a16:creationId xmlns:a16="http://schemas.microsoft.com/office/drawing/2014/main" id="{85009CF5-4699-0EB4-1CBD-ADBC30E33C67}"/>
              </a:ext>
            </a:extLst>
          </p:cNvPr>
          <p:cNvCxnSpPr>
            <a:cxnSpLocks/>
          </p:cNvCxnSpPr>
          <p:nvPr/>
        </p:nvCxnSpPr>
        <p:spPr>
          <a:xfrm>
            <a:off x="4454750" y="2470915"/>
            <a:ext cx="2074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6" name="TextBox 1065">
            <a:extLst>
              <a:ext uri="{FF2B5EF4-FFF2-40B4-BE49-F238E27FC236}">
                <a16:creationId xmlns:a16="http://schemas.microsoft.com/office/drawing/2014/main" id="{471A240A-99A5-EF3C-98FE-6400332FD5E8}"/>
              </a:ext>
            </a:extLst>
          </p:cNvPr>
          <p:cNvSpPr txBox="1"/>
          <p:nvPr/>
        </p:nvSpPr>
        <p:spPr>
          <a:xfrm>
            <a:off x="4861878" y="2633081"/>
            <a:ext cx="1701566" cy="20928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altLang="ko-KR" sz="1000" dirty="0"/>
              <a:t>N.O N.C</a:t>
            </a:r>
          </a:p>
          <a:p>
            <a:r>
              <a:rPr lang="pt-BR" altLang="ko-KR" sz="1000" dirty="0"/>
              <a:t>AP1A1 15ª *10K-15A</a:t>
            </a:r>
          </a:p>
          <a:p>
            <a:r>
              <a:rPr lang="pt-BR" altLang="ko-KR" sz="1000" dirty="0"/>
              <a:t>DECK ANU-10T</a:t>
            </a:r>
          </a:p>
          <a:p>
            <a:r>
              <a:rPr lang="pt-BR" altLang="ko-KR" sz="1000" dirty="0"/>
              <a:t>NOTE.5 10K-15A</a:t>
            </a:r>
          </a:p>
          <a:p>
            <a:r>
              <a:rPr lang="pt-BR" altLang="ko-KR" sz="1000" dirty="0"/>
              <a:t>T O B IL G E W E L L</a:t>
            </a:r>
          </a:p>
          <a:p>
            <a:r>
              <a:rPr lang="pt-BR" altLang="ko-KR" sz="1000" dirty="0"/>
              <a:t>G R A V IT Y D</a:t>
            </a:r>
          </a:p>
          <a:p>
            <a:r>
              <a:rPr lang="pt-BR" altLang="ko-KR" sz="1000" dirty="0"/>
              <a:t>R A IN Ø 1 2 T</a:t>
            </a:r>
          </a:p>
          <a:p>
            <a:r>
              <a:rPr lang="pt-BR" altLang="ko-KR" sz="1000" dirty="0"/>
              <a:t>U B E ( Y A R D</a:t>
            </a:r>
          </a:p>
          <a:p>
            <a:r>
              <a:rPr lang="pt-BR" altLang="ko-KR" sz="1000" dirty="0"/>
              <a:t>S C O P E )</a:t>
            </a:r>
          </a:p>
          <a:p>
            <a:r>
              <a:rPr lang="pt-BR" altLang="ko-KR" sz="1000" dirty="0"/>
              <a:t>(40MESH)</a:t>
            </a:r>
          </a:p>
          <a:p>
            <a:r>
              <a:rPr lang="pt-BR" altLang="ko-KR" sz="1000" dirty="0"/>
              <a:t>1 2 E C U 3 0 0 B</a:t>
            </a:r>
          </a:p>
          <a:p>
            <a:r>
              <a:rPr lang="pt-BR" altLang="ko-KR" sz="1000" dirty="0"/>
              <a:t>10K-250ª 10K-250A</a:t>
            </a:r>
          </a:p>
          <a:p>
            <a:r>
              <a:rPr lang="pt-BR" altLang="ko-KR" sz="1000" dirty="0"/>
              <a:t>E O 0 1 V N .O</a:t>
            </a:r>
          </a:p>
        </p:txBody>
      </p:sp>
      <p:cxnSp>
        <p:nvCxnSpPr>
          <p:cNvPr id="1068" name="직선 화살표 연결선 1067">
            <a:extLst>
              <a:ext uri="{FF2B5EF4-FFF2-40B4-BE49-F238E27FC236}">
                <a16:creationId xmlns:a16="http://schemas.microsoft.com/office/drawing/2014/main" id="{497E2384-270E-1226-AEF6-3EFF6B8C8655}"/>
              </a:ext>
            </a:extLst>
          </p:cNvPr>
          <p:cNvCxnSpPr>
            <a:cxnSpLocks/>
          </p:cNvCxnSpPr>
          <p:nvPr/>
        </p:nvCxnSpPr>
        <p:spPr>
          <a:xfrm>
            <a:off x="4454750" y="3676731"/>
            <a:ext cx="4071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직선 화살표 연결선 1073">
            <a:extLst>
              <a:ext uri="{FF2B5EF4-FFF2-40B4-BE49-F238E27FC236}">
                <a16:creationId xmlns:a16="http://schemas.microsoft.com/office/drawing/2014/main" id="{1E03E8BC-8FE9-DB82-D2F5-88F0D69686C9}"/>
              </a:ext>
            </a:extLst>
          </p:cNvPr>
          <p:cNvCxnSpPr/>
          <p:nvPr/>
        </p:nvCxnSpPr>
        <p:spPr>
          <a:xfrm>
            <a:off x="2987675" y="2470915"/>
            <a:ext cx="2005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직선 연결선 1075">
            <a:extLst>
              <a:ext uri="{FF2B5EF4-FFF2-40B4-BE49-F238E27FC236}">
                <a16:creationId xmlns:a16="http://schemas.microsoft.com/office/drawing/2014/main" id="{C06E9E32-F0D3-96B8-EBEE-EE44930CB5E3}"/>
              </a:ext>
            </a:extLst>
          </p:cNvPr>
          <p:cNvCxnSpPr>
            <a:cxnSpLocks/>
          </p:cNvCxnSpPr>
          <p:nvPr/>
        </p:nvCxnSpPr>
        <p:spPr>
          <a:xfrm flipV="1">
            <a:off x="2987675" y="2045624"/>
            <a:ext cx="0" cy="425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직선 연결선 1077">
            <a:extLst>
              <a:ext uri="{FF2B5EF4-FFF2-40B4-BE49-F238E27FC236}">
                <a16:creationId xmlns:a16="http://schemas.microsoft.com/office/drawing/2014/main" id="{CDB9A56D-8CC5-CAA9-F9DF-01959260ED4D}"/>
              </a:ext>
            </a:extLst>
          </p:cNvPr>
          <p:cNvCxnSpPr>
            <a:cxnSpLocks/>
            <a:endCxn id="27" idx="3"/>
          </p:cNvCxnSpPr>
          <p:nvPr/>
        </p:nvCxnSpPr>
        <p:spPr>
          <a:xfrm flipH="1">
            <a:off x="2780937" y="2045624"/>
            <a:ext cx="2067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6" name="그룹 1085">
            <a:extLst>
              <a:ext uri="{FF2B5EF4-FFF2-40B4-BE49-F238E27FC236}">
                <a16:creationId xmlns:a16="http://schemas.microsoft.com/office/drawing/2014/main" id="{D5EEB9EC-FF07-E1E1-CB2B-1279AF3568D0}"/>
              </a:ext>
            </a:extLst>
          </p:cNvPr>
          <p:cNvGrpSpPr/>
          <p:nvPr/>
        </p:nvGrpSpPr>
        <p:grpSpPr>
          <a:xfrm>
            <a:off x="6964094" y="1374286"/>
            <a:ext cx="2670193" cy="3351677"/>
            <a:chOff x="6906944" y="1298086"/>
            <a:chExt cx="2670193" cy="3351677"/>
          </a:xfrm>
        </p:grpSpPr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983507BD-501D-355E-8311-B37B2FB2BD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2752" b="38306"/>
            <a:stretch>
              <a:fillRect/>
            </a:stretch>
          </p:blipFill>
          <p:spPr>
            <a:xfrm>
              <a:off x="6906944" y="1298087"/>
              <a:ext cx="2670193" cy="3351676"/>
            </a:xfrm>
            <a:prstGeom prst="rect">
              <a:avLst/>
            </a:prstGeom>
          </p:spPr>
        </p:pic>
        <p:sp>
          <p:nvSpPr>
            <p:cNvPr id="1085" name="직사각형 1084">
              <a:extLst>
                <a:ext uri="{FF2B5EF4-FFF2-40B4-BE49-F238E27FC236}">
                  <a16:creationId xmlns:a16="http://schemas.microsoft.com/office/drawing/2014/main" id="{6D25F4F2-F6CD-BD16-123F-86DED370D7BF}"/>
                </a:ext>
              </a:extLst>
            </p:cNvPr>
            <p:cNvSpPr/>
            <p:nvPr/>
          </p:nvSpPr>
          <p:spPr>
            <a:xfrm>
              <a:off x="6906944" y="1298086"/>
              <a:ext cx="2670193" cy="33516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088" name="직선 화살표 연결선 1087">
            <a:extLst>
              <a:ext uri="{FF2B5EF4-FFF2-40B4-BE49-F238E27FC236}">
                <a16:creationId xmlns:a16="http://schemas.microsoft.com/office/drawing/2014/main" id="{6FD386B0-900C-4248-DC13-2BFEA4FC321D}"/>
              </a:ext>
            </a:extLst>
          </p:cNvPr>
          <p:cNvCxnSpPr>
            <a:cxnSpLocks/>
            <a:stCxn id="1028" idx="3"/>
          </p:cNvCxnSpPr>
          <p:nvPr/>
        </p:nvCxnSpPr>
        <p:spPr>
          <a:xfrm>
            <a:off x="6563444" y="1969629"/>
            <a:ext cx="400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직선 화살표 연결선 1095">
            <a:extLst>
              <a:ext uri="{FF2B5EF4-FFF2-40B4-BE49-F238E27FC236}">
                <a16:creationId xmlns:a16="http://schemas.microsoft.com/office/drawing/2014/main" id="{CC8129AA-FBB7-66D7-811C-EEDEEF290614}"/>
              </a:ext>
            </a:extLst>
          </p:cNvPr>
          <p:cNvCxnSpPr>
            <a:stCxn id="1066" idx="3"/>
          </p:cNvCxnSpPr>
          <p:nvPr/>
        </p:nvCxnSpPr>
        <p:spPr>
          <a:xfrm>
            <a:off x="6563444" y="3679522"/>
            <a:ext cx="400650" cy="3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8" name="TextBox 1097">
            <a:extLst>
              <a:ext uri="{FF2B5EF4-FFF2-40B4-BE49-F238E27FC236}">
                <a16:creationId xmlns:a16="http://schemas.microsoft.com/office/drawing/2014/main" id="{E59A8686-BDB7-D19A-88CD-9E5ABA0BDCCF}"/>
              </a:ext>
            </a:extLst>
          </p:cNvPr>
          <p:cNvSpPr txBox="1"/>
          <p:nvPr/>
        </p:nvSpPr>
        <p:spPr>
          <a:xfrm>
            <a:off x="3229636" y="2540496"/>
            <a:ext cx="1215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GPT(LLM)</a:t>
            </a:r>
            <a:endParaRPr lang="ko-KR" altLang="en-US" dirty="0"/>
          </a:p>
        </p:txBody>
      </p:sp>
      <p:sp>
        <p:nvSpPr>
          <p:cNvPr id="1099" name="사각형: 둥근 모서리 1098">
            <a:extLst>
              <a:ext uri="{FF2B5EF4-FFF2-40B4-BE49-F238E27FC236}">
                <a16:creationId xmlns:a16="http://schemas.microsoft.com/office/drawing/2014/main" id="{594AFF71-49CE-31D3-F31F-4743C365B624}"/>
              </a:ext>
            </a:extLst>
          </p:cNvPr>
          <p:cNvSpPr/>
          <p:nvPr/>
        </p:nvSpPr>
        <p:spPr>
          <a:xfrm>
            <a:off x="4900491" y="895724"/>
            <a:ext cx="1584488" cy="41777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1100" name="사각형: 둥근 모서리 1099">
            <a:extLst>
              <a:ext uri="{FF2B5EF4-FFF2-40B4-BE49-F238E27FC236}">
                <a16:creationId xmlns:a16="http://schemas.microsoft.com/office/drawing/2014/main" id="{FC976FC5-5B70-6A3C-DBA7-CA62361BA499}"/>
              </a:ext>
            </a:extLst>
          </p:cNvPr>
          <p:cNvSpPr/>
          <p:nvPr/>
        </p:nvSpPr>
        <p:spPr>
          <a:xfrm>
            <a:off x="7503006" y="895724"/>
            <a:ext cx="1584488" cy="41777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Output</a:t>
            </a:r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37C3C31-C841-727E-7668-D6157F37E26B}"/>
              </a:ext>
            </a:extLst>
          </p:cNvPr>
          <p:cNvGrpSpPr/>
          <p:nvPr/>
        </p:nvGrpSpPr>
        <p:grpSpPr>
          <a:xfrm>
            <a:off x="3239477" y="1271150"/>
            <a:ext cx="1164432" cy="1162502"/>
            <a:chOff x="4382412" y="1393580"/>
            <a:chExt cx="1164432" cy="1162502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61DF0953-7B01-585D-7D68-AD7A34CBE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70259" y="1575041"/>
              <a:ext cx="790574" cy="793749"/>
            </a:xfrm>
            <a:prstGeom prst="rect">
              <a:avLst/>
            </a:prstGeom>
          </p:spPr>
        </p:pic>
        <p:sp>
          <p:nvSpPr>
            <p:cNvPr id="22" name="원형: 비어 있음 21">
              <a:extLst>
                <a:ext uri="{FF2B5EF4-FFF2-40B4-BE49-F238E27FC236}">
                  <a16:creationId xmlns:a16="http://schemas.microsoft.com/office/drawing/2014/main" id="{254A99F8-C076-8DC4-9D71-FAB2D311E1D9}"/>
                </a:ext>
              </a:extLst>
            </p:cNvPr>
            <p:cNvSpPr/>
            <p:nvPr/>
          </p:nvSpPr>
          <p:spPr>
            <a:xfrm>
              <a:off x="4382412" y="1393580"/>
              <a:ext cx="1164432" cy="1162502"/>
            </a:xfrm>
            <a:prstGeom prst="donut">
              <a:avLst>
                <a:gd name="adj" fmla="val 17705"/>
              </a:avLst>
            </a:prstGeom>
            <a:solidFill>
              <a:srgbClr val="F8C66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113" name="TextBox 1112">
            <a:extLst>
              <a:ext uri="{FF2B5EF4-FFF2-40B4-BE49-F238E27FC236}">
                <a16:creationId xmlns:a16="http://schemas.microsoft.com/office/drawing/2014/main" id="{B0664DA7-E213-E2E2-F522-D8F69102DE34}"/>
              </a:ext>
            </a:extLst>
          </p:cNvPr>
          <p:cNvSpPr txBox="1"/>
          <p:nvPr/>
        </p:nvSpPr>
        <p:spPr>
          <a:xfrm>
            <a:off x="3131339" y="3717093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Multimodal</a:t>
            </a:r>
            <a:endParaRPr lang="ko-KR" altLang="en-US" dirty="0"/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F18ED4CA-45B6-DB2E-869F-F402154770DE}"/>
              </a:ext>
            </a:extLst>
          </p:cNvPr>
          <p:cNvSpPr txBox="1"/>
          <p:nvPr/>
        </p:nvSpPr>
        <p:spPr>
          <a:xfrm>
            <a:off x="3643393" y="3115234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+</a:t>
            </a:r>
            <a:endParaRPr lang="ko-KR" altLang="en-US" sz="2400" dirty="0"/>
          </a:p>
        </p:txBody>
      </p:sp>
      <p:sp>
        <p:nvSpPr>
          <p:cNvPr id="1121" name="직사각형 1120">
            <a:extLst>
              <a:ext uri="{FF2B5EF4-FFF2-40B4-BE49-F238E27FC236}">
                <a16:creationId xmlns:a16="http://schemas.microsoft.com/office/drawing/2014/main" id="{FB9C7BFC-8241-D33B-1A90-7B5F6F5EA0EB}"/>
              </a:ext>
            </a:extLst>
          </p:cNvPr>
          <p:cNvSpPr/>
          <p:nvPr/>
        </p:nvSpPr>
        <p:spPr>
          <a:xfrm>
            <a:off x="4890455" y="2672878"/>
            <a:ext cx="1642285" cy="20245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0F46B9C9-EE2C-17FE-A4F4-C81C999D718B}"/>
              </a:ext>
            </a:extLst>
          </p:cNvPr>
          <p:cNvGrpSpPr/>
          <p:nvPr/>
        </p:nvGrpSpPr>
        <p:grpSpPr>
          <a:xfrm>
            <a:off x="4950737" y="2696692"/>
            <a:ext cx="1459498" cy="1950003"/>
            <a:chOff x="4974551" y="2696692"/>
            <a:chExt cx="1459498" cy="1950003"/>
          </a:xfrm>
        </p:grpSpPr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47FDD72D-875C-F348-FEDE-226A698DD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0922" t="23951" r="38998" b="60847"/>
            <a:stretch>
              <a:fillRect/>
            </a:stretch>
          </p:blipFill>
          <p:spPr>
            <a:xfrm>
              <a:off x="5610783" y="3392238"/>
              <a:ext cx="823266" cy="87192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3274D989-BF1A-F8DA-DFBE-D3C1A10F0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4947" t="50977" r="25337" b="43261"/>
            <a:stretch>
              <a:fillRect/>
            </a:stretch>
          </p:blipFill>
          <p:spPr>
            <a:xfrm>
              <a:off x="5619517" y="4311123"/>
              <a:ext cx="805798" cy="33557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AF644AD8-05E2-D347-58DD-82B077FF1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480" t="43215" r="58111" b="51493"/>
            <a:stretch>
              <a:fillRect/>
            </a:stretch>
          </p:blipFill>
          <p:spPr>
            <a:xfrm>
              <a:off x="5652997" y="2696692"/>
              <a:ext cx="765298" cy="64503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19" name="TextBox 1118">
              <a:extLst>
                <a:ext uri="{FF2B5EF4-FFF2-40B4-BE49-F238E27FC236}">
                  <a16:creationId xmlns:a16="http://schemas.microsoft.com/office/drawing/2014/main" id="{E013724F-54A2-FAAD-BB2C-9ACF3164A16E}"/>
                </a:ext>
              </a:extLst>
            </p:cNvPr>
            <p:cNvSpPr txBox="1"/>
            <p:nvPr/>
          </p:nvSpPr>
          <p:spPr>
            <a:xfrm>
              <a:off x="4974551" y="2817997"/>
              <a:ext cx="894564" cy="18158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T-str:</a:t>
              </a:r>
            </a:p>
            <a:p>
              <a:endParaRPr lang="en-US" altLang="ko-KR" sz="1400" dirty="0"/>
            </a:p>
            <a:p>
              <a:endParaRPr lang="en-US" altLang="ko-KR" sz="1400" dirty="0"/>
            </a:p>
            <a:p>
              <a:endParaRPr lang="en-US" altLang="ko-KR" sz="1400" dirty="0"/>
            </a:p>
            <a:p>
              <a:r>
                <a:rPr lang="en-US" altLang="ko-KR" sz="1400" dirty="0"/>
                <a:t>ECU:</a:t>
              </a:r>
            </a:p>
            <a:p>
              <a:endParaRPr lang="en-US" altLang="ko-KR" sz="1400" dirty="0"/>
            </a:p>
            <a:p>
              <a:endParaRPr lang="en-US" altLang="ko-KR" sz="1400" dirty="0"/>
            </a:p>
            <a:p>
              <a:r>
                <a:rPr lang="en-US" altLang="ko-KR" sz="1400" dirty="0"/>
                <a:t>FMU: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45475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00"/>
    </mc:Choice>
    <mc:Fallback xmlns="">
      <p:transition spd="slow" advTm="29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2" grpId="0" animBg="1"/>
      <p:bldP spid="1106" grpId="0" animBg="1"/>
      <p:bldP spid="1113" grpId="0"/>
      <p:bldP spid="1114" grpId="0"/>
      <p:bldP spid="11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AECFD-918A-BF6F-337C-9E7CCB478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FC3393F3-99CC-9D3E-C8F1-4B821005D61E}"/>
              </a:ext>
            </a:extLst>
          </p:cNvPr>
          <p:cNvSpPr txBox="1"/>
          <p:nvPr/>
        </p:nvSpPr>
        <p:spPr>
          <a:xfrm>
            <a:off x="8816434" y="22160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6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설계본부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EFABE854-7B08-50E0-4EE6-33A9CDBFC493}"/>
              </a:ext>
            </a:extLst>
          </p:cNvPr>
          <p:cNvSpPr txBox="1">
            <a:spLocks/>
          </p:cNvSpPr>
          <p:nvPr/>
        </p:nvSpPr>
        <p:spPr>
          <a:xfrm>
            <a:off x="430191" y="1501167"/>
            <a:ext cx="8888944" cy="9914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b="1" u="sng" dirty="0">
                <a:solidFill>
                  <a:schemeClr val="tx1"/>
                </a:solidFill>
                <a:latin typeface="+mn-ea"/>
                <a:ea typeface="+mn-ea"/>
              </a:rPr>
              <a:t>1. </a:t>
            </a:r>
            <a:r>
              <a:rPr lang="ko-KR" altLang="en-US" sz="1400" b="1" u="sng" dirty="0">
                <a:solidFill>
                  <a:schemeClr val="tx1"/>
                </a:solidFill>
                <a:latin typeface="+mn-ea"/>
                <a:ea typeface="+mn-ea"/>
              </a:rPr>
              <a:t>목적</a:t>
            </a:r>
            <a:endParaRPr lang="en-US" altLang="ko-KR" sz="1400" b="1" u="sng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  <a:ea typeface="+mn-ea"/>
              </a:rPr>
              <a:t>‘</a:t>
            </a:r>
            <a:r>
              <a:rPr lang="en-US" altLang="ko-KR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Drawn</a:t>
            </a:r>
            <a:r>
              <a:rPr lang="ko-KR" alt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→</a:t>
            </a:r>
            <a:r>
              <a:rPr lang="en-US" altLang="ko-KR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Reviewed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ea typeface="+mn-ea"/>
              </a:rPr>
              <a:t>→ 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ea typeface="+mn-ea"/>
              </a:rPr>
              <a:t>Approved’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ea typeface="+mn-ea"/>
              </a:rPr>
              <a:t>의</a:t>
            </a:r>
            <a:r>
              <a:rPr lang="en-US" altLang="ko-KR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ea typeface="+mn-ea"/>
              </a:rPr>
              <a:t>도면 검토 과정을 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ea typeface="+mn-ea"/>
              </a:rPr>
              <a:t>‘</a:t>
            </a:r>
            <a:r>
              <a:rPr lang="en-US" altLang="ko-KR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AI </a:t>
            </a:r>
            <a:r>
              <a:rPr lang="ko-KR" alt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검도 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ea typeface="+mn-ea"/>
              </a:rPr>
              <a:t>→ 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ea typeface="+mn-ea"/>
              </a:rPr>
              <a:t>Approved’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ea typeface="+mn-ea"/>
              </a:rPr>
              <a:t>으로 구축하여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ea typeface="+mn-ea"/>
              </a:rPr>
              <a:t>,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ea typeface="+mn-ea"/>
              </a:rPr>
              <a:t>  검도 시수를 절감하고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ea typeface="+mn-ea"/>
              </a:rPr>
              <a:t> Human Error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ea typeface="+mn-ea"/>
              </a:rPr>
              <a:t>를 방지</a:t>
            </a:r>
            <a:endParaRPr lang="en-US" altLang="ko-KR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8" name="제목 1">
            <a:extLst>
              <a:ext uri="{FF2B5EF4-FFF2-40B4-BE49-F238E27FC236}">
                <a16:creationId xmlns:a16="http://schemas.microsoft.com/office/drawing/2014/main" id="{3279F266-8933-5B9A-AFF2-D02AFBD2664C}"/>
              </a:ext>
            </a:extLst>
          </p:cNvPr>
          <p:cNvSpPr txBox="1">
            <a:spLocks/>
          </p:cNvSpPr>
          <p:nvPr/>
        </p:nvSpPr>
        <p:spPr>
          <a:xfrm>
            <a:off x="507054" y="2028150"/>
            <a:ext cx="8888944" cy="9914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2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38D05C-C169-92C7-EC0D-E586A6AA4816}"/>
              </a:ext>
            </a:extLst>
          </p:cNvPr>
          <p:cNvSpPr txBox="1"/>
          <p:nvPr/>
        </p:nvSpPr>
        <p:spPr>
          <a:xfrm>
            <a:off x="527186" y="3122695"/>
            <a:ext cx="3134426" cy="830997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u="sng" dirty="0"/>
              <a:t>26</a:t>
            </a:r>
            <a:r>
              <a:rPr lang="ko-KR" altLang="en-US" sz="1200" u="sng" dirty="0"/>
              <a:t>년 </a:t>
            </a:r>
            <a:r>
              <a:rPr lang="en-US" altLang="ko-KR" sz="1200" u="sng" dirty="0"/>
              <a:t>1-2</a:t>
            </a:r>
            <a:r>
              <a:rPr lang="ko-KR" altLang="en-US" sz="1200" u="sng" dirty="0"/>
              <a:t>분기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en-US" altLang="ko-K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POC </a:t>
            </a:r>
            <a:r>
              <a:rPr lang="ko-KR" alt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수행 및 업체 계약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POC: </a:t>
            </a:r>
            <a:r>
              <a:rPr lang="ko-KR" altLang="en-US" sz="1200" dirty="0"/>
              <a:t>기술</a:t>
            </a:r>
            <a:r>
              <a:rPr lang="en-US" altLang="ko-KR" sz="1200" dirty="0"/>
              <a:t>·</a:t>
            </a:r>
            <a:r>
              <a:rPr lang="ko-KR" altLang="en-US" sz="1200" dirty="0"/>
              <a:t>기능이 실제로 가능 여부 테스트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개발 </a:t>
            </a:r>
            <a:r>
              <a:rPr lang="ko-KR" alt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업체 계약</a:t>
            </a:r>
            <a:endParaRPr lang="en-US" altLang="ko-KR" sz="12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81225B-C082-CD8C-1246-826F8DD64794}"/>
              </a:ext>
            </a:extLst>
          </p:cNvPr>
          <p:cNvSpPr txBox="1"/>
          <p:nvPr/>
        </p:nvSpPr>
        <p:spPr>
          <a:xfrm>
            <a:off x="2031634" y="4086444"/>
            <a:ext cx="2602387" cy="830997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u="sng" dirty="0"/>
              <a:t>26</a:t>
            </a:r>
            <a:r>
              <a:rPr lang="ko-KR" altLang="en-US" sz="1200" u="sng" dirty="0"/>
              <a:t>년 </a:t>
            </a:r>
            <a:r>
              <a:rPr lang="en-US" altLang="ko-KR" sz="1200" u="sng" dirty="0"/>
              <a:t>3-4</a:t>
            </a:r>
            <a:r>
              <a:rPr lang="ko-KR" altLang="en-US" sz="1200" u="sng" dirty="0"/>
              <a:t>분기</a:t>
            </a:r>
            <a:r>
              <a:rPr lang="ko-KR" altLang="en-US" sz="1200" dirty="0"/>
              <a:t> </a:t>
            </a:r>
            <a:r>
              <a:rPr lang="en-US" altLang="ko-KR" sz="1200"/>
              <a:t>(AI </a:t>
            </a:r>
            <a:r>
              <a:rPr lang="ko-KR" altLang="en-US" sz="1200">
                <a:solidFill>
                  <a:schemeClr val="tx2">
                    <a:lumMod val="75000"/>
                    <a:lumOff val="25000"/>
                  </a:schemeClr>
                </a:solidFill>
              </a:rPr>
              <a:t>컨셉 </a:t>
            </a:r>
            <a:r>
              <a:rPr lang="ko-KR" alt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확정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User Interface </a:t>
            </a:r>
            <a:r>
              <a:rPr lang="ko-KR" altLang="en-US" sz="1200" dirty="0"/>
              <a:t>구현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개발 업체와 지속적으로 피드백 교환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CB4712-C5E9-9C89-7465-47CC6EEB90F1}"/>
              </a:ext>
            </a:extLst>
          </p:cNvPr>
          <p:cNvSpPr txBox="1"/>
          <p:nvPr/>
        </p:nvSpPr>
        <p:spPr>
          <a:xfrm>
            <a:off x="4587279" y="2974070"/>
            <a:ext cx="3601382" cy="1015663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u="sng" dirty="0"/>
              <a:t>27</a:t>
            </a:r>
            <a:r>
              <a:rPr lang="ko-KR" altLang="en-US" sz="1200" u="sng" dirty="0"/>
              <a:t>년 </a:t>
            </a:r>
            <a:r>
              <a:rPr lang="en-US" altLang="ko-KR" sz="1200" u="sng" dirty="0"/>
              <a:t>1-2</a:t>
            </a:r>
            <a:r>
              <a:rPr lang="ko-KR" altLang="en-US" sz="1200" u="sng" dirty="0"/>
              <a:t>분기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프로토</a:t>
            </a:r>
            <a:r>
              <a:rPr lang="ko-KR" alt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타입 완성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PDF</a:t>
            </a:r>
            <a:r>
              <a:rPr lang="ko-KR" altLang="en-US" sz="1200" dirty="0"/>
              <a:t>와 </a:t>
            </a:r>
            <a:r>
              <a:rPr lang="en-US" altLang="ko-KR" sz="1200" dirty="0"/>
              <a:t>CAD </a:t>
            </a:r>
            <a:r>
              <a:rPr lang="ko-KR" altLang="en-US" sz="1200" dirty="0"/>
              <a:t>파일을 인식하여 </a:t>
            </a:r>
            <a:r>
              <a:rPr lang="ko-KR" alt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도면을 검토하는 </a:t>
            </a:r>
            <a:r>
              <a:rPr lang="en-US" altLang="ko-K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AI </a:t>
            </a:r>
            <a:r>
              <a:rPr lang="ko-KR" alt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알고리즘을 완성</a:t>
            </a:r>
            <a:endParaRPr lang="en-US" altLang="ko-KR" sz="12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자가 검토 과정에 포함시켜 </a:t>
            </a:r>
            <a:r>
              <a:rPr lang="en-US" altLang="ko-KR" sz="1200" dirty="0"/>
              <a:t>AI </a:t>
            </a:r>
            <a:r>
              <a:rPr lang="ko-KR" altLang="en-US" sz="1200" dirty="0"/>
              <a:t>구축</a:t>
            </a:r>
            <a:endParaRPr lang="en-US" altLang="ko-KR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4BBEF5-99C0-8953-ACFB-4ACE748AA494}"/>
              </a:ext>
            </a:extLst>
          </p:cNvPr>
          <p:cNvSpPr txBox="1"/>
          <p:nvPr/>
        </p:nvSpPr>
        <p:spPr>
          <a:xfrm>
            <a:off x="6616021" y="4100318"/>
            <a:ext cx="2978346" cy="830997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u="sng" dirty="0"/>
              <a:t>27</a:t>
            </a:r>
            <a:r>
              <a:rPr lang="ko-KR" altLang="en-US" sz="1200" u="sng" dirty="0"/>
              <a:t>년 </a:t>
            </a:r>
            <a:r>
              <a:rPr lang="en-US" altLang="ko-KR" sz="1200" u="sng" dirty="0"/>
              <a:t>3-4</a:t>
            </a:r>
            <a:r>
              <a:rPr lang="ko-KR" altLang="en-US" sz="1200" u="sng" dirty="0"/>
              <a:t>분기</a:t>
            </a:r>
            <a:r>
              <a:rPr lang="en-US" altLang="ko-KR" sz="1200" dirty="0"/>
              <a:t> (</a:t>
            </a:r>
            <a:r>
              <a:rPr lang="ko-KR" alt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유지 보수 및 시 운영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팀원 교육 및 </a:t>
            </a:r>
            <a:r>
              <a:rPr lang="en-US" altLang="ko-K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AI </a:t>
            </a:r>
            <a:r>
              <a:rPr lang="ko-KR" alt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검토 체계 운영</a:t>
            </a:r>
            <a:endParaRPr lang="en-US" altLang="ko-KR" sz="12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prstClr val="black"/>
                </a:solidFill>
              </a:rPr>
              <a:t>유지보수 및 추가 </a:t>
            </a:r>
            <a:r>
              <a:rPr lang="en-US" altLang="ko-KR" sz="1200" dirty="0">
                <a:solidFill>
                  <a:prstClr val="black"/>
                </a:solidFill>
              </a:rPr>
              <a:t>AI </a:t>
            </a:r>
            <a:r>
              <a:rPr lang="ko-KR" altLang="en-US" sz="1200" dirty="0">
                <a:solidFill>
                  <a:prstClr val="black"/>
                </a:solidFill>
              </a:rPr>
              <a:t>기능 도입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339D171F-45DB-6CC5-1EDD-BF3DC98E5A08}"/>
              </a:ext>
            </a:extLst>
          </p:cNvPr>
          <p:cNvSpPr txBox="1">
            <a:spLocks/>
          </p:cNvSpPr>
          <p:nvPr/>
        </p:nvSpPr>
        <p:spPr>
          <a:xfrm>
            <a:off x="430191" y="2336999"/>
            <a:ext cx="8888944" cy="9914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400" b="1" u="sng" dirty="0">
                <a:solidFill>
                  <a:schemeClr val="tx1"/>
                </a:solidFill>
                <a:latin typeface="+mn-ea"/>
                <a:ea typeface="+mn-ea"/>
              </a:rPr>
              <a:t>２</a:t>
            </a:r>
            <a:r>
              <a:rPr lang="en-US" altLang="ko-KR" sz="1400" b="1" u="sng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lang="ko-KR" altLang="en-US" sz="1400" b="1" u="sng" dirty="0">
                <a:solidFill>
                  <a:schemeClr val="tx1"/>
                </a:solidFill>
                <a:latin typeface="+mn-ea"/>
                <a:ea typeface="+mn-ea"/>
              </a:rPr>
              <a:t>로드맵</a:t>
            </a:r>
            <a:endParaRPr lang="en-US" altLang="ko-KR" sz="1400" b="1" u="sng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화살표: 위로 굽음 12">
            <a:extLst>
              <a:ext uri="{FF2B5EF4-FFF2-40B4-BE49-F238E27FC236}">
                <a16:creationId xmlns:a16="http://schemas.microsoft.com/office/drawing/2014/main" id="{AF3BBE34-1F75-462A-C0CC-C2FD90C42D0B}"/>
              </a:ext>
            </a:extLst>
          </p:cNvPr>
          <p:cNvSpPr/>
          <p:nvPr/>
        </p:nvSpPr>
        <p:spPr>
          <a:xfrm rot="5400000">
            <a:off x="1074707" y="4058561"/>
            <a:ext cx="766429" cy="748093"/>
          </a:xfrm>
          <a:prstGeom prst="bentUpArrow">
            <a:avLst>
              <a:gd name="adj1" fmla="val 29505"/>
              <a:gd name="adj2" fmla="val 25000"/>
              <a:gd name="adj3" fmla="val 28846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위로 굽음 14">
            <a:extLst>
              <a:ext uri="{FF2B5EF4-FFF2-40B4-BE49-F238E27FC236}">
                <a16:creationId xmlns:a16="http://schemas.microsoft.com/office/drawing/2014/main" id="{44B6660D-2E5D-AB1A-B89F-D595756A6F2C}"/>
              </a:ext>
            </a:extLst>
          </p:cNvPr>
          <p:cNvSpPr/>
          <p:nvPr/>
        </p:nvSpPr>
        <p:spPr>
          <a:xfrm rot="5400000">
            <a:off x="5734180" y="4058560"/>
            <a:ext cx="766429" cy="748093"/>
          </a:xfrm>
          <a:prstGeom prst="bentUpArrow">
            <a:avLst>
              <a:gd name="adj1" fmla="val 29505"/>
              <a:gd name="adj2" fmla="val 25000"/>
              <a:gd name="adj3" fmla="val 28846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위로 굽음 15">
            <a:extLst>
              <a:ext uri="{FF2B5EF4-FFF2-40B4-BE49-F238E27FC236}">
                <a16:creationId xmlns:a16="http://schemas.microsoft.com/office/drawing/2014/main" id="{217F2C55-261D-4ECF-C4CC-7F44B972029D}"/>
              </a:ext>
            </a:extLst>
          </p:cNvPr>
          <p:cNvSpPr/>
          <p:nvPr/>
        </p:nvSpPr>
        <p:spPr>
          <a:xfrm rot="5400000" flipH="1">
            <a:off x="3838168" y="3343314"/>
            <a:ext cx="766428" cy="645728"/>
          </a:xfrm>
          <a:prstGeom prst="bentUpArrow">
            <a:avLst>
              <a:gd name="adj1" fmla="val 24333"/>
              <a:gd name="adj2" fmla="val 38486"/>
              <a:gd name="adj3" fmla="val 26149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제목 1">
            <a:extLst>
              <a:ext uri="{FF2B5EF4-FFF2-40B4-BE49-F238E27FC236}">
                <a16:creationId xmlns:a16="http://schemas.microsoft.com/office/drawing/2014/main" id="{79DCF0E7-B6D9-E989-58B1-1ACE6836D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4" y="210348"/>
            <a:ext cx="8973352" cy="3600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I. AI </a:t>
            </a:r>
            <a:r>
              <a:rPr lang="ko-KR" altLang="en-US" dirty="0"/>
              <a:t>활용한 도면 검토</a:t>
            </a:r>
          </a:p>
        </p:txBody>
      </p:sp>
      <p:sp>
        <p:nvSpPr>
          <p:cNvPr id="25" name="제목 1">
            <a:extLst>
              <a:ext uri="{FF2B5EF4-FFF2-40B4-BE49-F238E27FC236}">
                <a16:creationId xmlns:a16="http://schemas.microsoft.com/office/drawing/2014/main" id="{9CA78D3A-9D65-16A1-1E1A-71197925A8CF}"/>
              </a:ext>
            </a:extLst>
          </p:cNvPr>
          <p:cNvSpPr txBox="1">
            <a:spLocks/>
          </p:cNvSpPr>
          <p:nvPr/>
        </p:nvSpPr>
        <p:spPr>
          <a:xfrm>
            <a:off x="199526" y="571662"/>
            <a:ext cx="9504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>
                <a:solidFill>
                  <a:schemeClr val="tx1"/>
                </a:solidFill>
                <a:latin typeface="+mj-ea"/>
              </a:rPr>
              <a:t>1. </a:t>
            </a:r>
            <a:r>
              <a:rPr lang="ko-KR" altLang="en-US" sz="1600" b="1" dirty="0" err="1">
                <a:solidFill>
                  <a:schemeClr val="tx1"/>
                </a:solidFill>
                <a:latin typeface="+mj-ea"/>
              </a:rPr>
              <a:t>멀티모달</a:t>
            </a:r>
            <a:r>
              <a:rPr lang="ko-KR" altLang="en-US" sz="1600" b="1" dirty="0">
                <a:solidFill>
                  <a:schemeClr val="tx1"/>
                </a:solidFill>
                <a:latin typeface="+mj-ea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+mj-ea"/>
              </a:rPr>
              <a:t>AI</a:t>
            </a:r>
            <a:endParaRPr lang="ko-KR" altLang="en-US" sz="1600" b="1" dirty="0">
              <a:solidFill>
                <a:schemeClr val="tx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6915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00"/>
    </mc:Choice>
    <mc:Fallback xmlns="">
      <p:transition spd="slow" advTm="295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EC3F22D-EF8E-B950-AFAB-2BC4CBE5BE3A}"/>
              </a:ext>
            </a:extLst>
          </p:cNvPr>
          <p:cNvSpPr txBox="1">
            <a:spLocks/>
          </p:cNvSpPr>
          <p:nvPr/>
        </p:nvSpPr>
        <p:spPr>
          <a:xfrm>
            <a:off x="618792" y="1439501"/>
            <a:ext cx="7350925" cy="1387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>
                <a:solidFill>
                  <a:schemeClr val="accent1"/>
                </a:solidFill>
              </a:rPr>
              <a:t>기본설계팀 </a:t>
            </a:r>
            <a:r>
              <a:rPr lang="en-US" altLang="ko-KR" sz="3200" b="1" dirty="0">
                <a:solidFill>
                  <a:schemeClr val="accent1"/>
                </a:solidFill>
              </a:rPr>
              <a:t>AI </a:t>
            </a:r>
            <a:r>
              <a:rPr lang="ko-KR" altLang="en-US" sz="3200" b="1">
                <a:solidFill>
                  <a:schemeClr val="accent1"/>
                </a:solidFill>
              </a:rPr>
              <a:t>활용 안건</a:t>
            </a:r>
            <a:endParaRPr lang="ko-KR" altLang="en-US" sz="3200" b="1" dirty="0">
              <a:solidFill>
                <a:schemeClr val="accent1"/>
              </a:solidFill>
            </a:endParaRP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995FB9E6-1131-647A-E800-662892F9153D}"/>
              </a:ext>
            </a:extLst>
          </p:cNvPr>
          <p:cNvSpPr txBox="1">
            <a:spLocks/>
          </p:cNvSpPr>
          <p:nvPr/>
        </p:nvSpPr>
        <p:spPr>
          <a:xfrm>
            <a:off x="743608" y="4737461"/>
            <a:ext cx="6247880" cy="365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기본설계팀</a:t>
            </a: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59F03AF6-B40C-A194-A7F8-65032C9B630D}"/>
              </a:ext>
            </a:extLst>
          </p:cNvPr>
          <p:cNvSpPr txBox="1">
            <a:spLocks/>
          </p:cNvSpPr>
          <p:nvPr/>
        </p:nvSpPr>
        <p:spPr>
          <a:xfrm>
            <a:off x="743608" y="5102587"/>
            <a:ext cx="6247880" cy="315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25. 11. 06.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45672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3D81D-42B2-280F-4133-BA791AC22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706C0232-BA22-1AEC-870A-54F621334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5" y="210348"/>
            <a:ext cx="7027752" cy="3600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1-1. P&amp;ID </a:t>
            </a:r>
            <a:r>
              <a:rPr lang="ko-KR" altLang="en-US" dirty="0"/>
              <a:t>인식</a:t>
            </a:r>
            <a:r>
              <a:rPr lang="en-US" altLang="ko-KR" dirty="0"/>
              <a:t> </a:t>
            </a:r>
            <a:r>
              <a:rPr lang="ko-KR" altLang="en-US" dirty="0"/>
              <a:t>및 체크리스트 검토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89F226-E8CA-05C9-F918-5D727F24746D}"/>
              </a:ext>
            </a:extLst>
          </p:cNvPr>
          <p:cNvSpPr txBox="1"/>
          <p:nvPr/>
        </p:nvSpPr>
        <p:spPr>
          <a:xfrm>
            <a:off x="604837" y="4583447"/>
            <a:ext cx="917210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단순 텍스트로 판별하는 것이 아닌</a:t>
            </a:r>
            <a:r>
              <a:rPr lang="en-US" altLang="ko-KR" sz="1400" dirty="0"/>
              <a:t>, </a:t>
            </a:r>
            <a:r>
              <a:rPr lang="ko-KR" altLang="en-US" sz="1400" dirty="0"/>
              <a:t>형상을 통하여 </a:t>
            </a:r>
            <a:r>
              <a:rPr lang="en-US" altLang="ko-KR" sz="1400" dirty="0"/>
              <a:t>P&amp;ID</a:t>
            </a:r>
            <a:r>
              <a:rPr lang="ko-KR" altLang="en-US" sz="1400" dirty="0"/>
              <a:t>를 인식해 검토 </a:t>
            </a:r>
            <a:r>
              <a:rPr lang="en-US" altLang="ko-KR" sz="1400" dirty="0"/>
              <a:t>(pdf </a:t>
            </a:r>
            <a:r>
              <a:rPr lang="ko-KR" altLang="en-US" sz="1400" dirty="0"/>
              <a:t>혹은 </a:t>
            </a:r>
            <a:r>
              <a:rPr lang="en-US" altLang="ko-KR" sz="1400" dirty="0"/>
              <a:t>dwg </a:t>
            </a:r>
            <a:r>
              <a:rPr lang="ko-KR" altLang="en-US" sz="1400" dirty="0"/>
              <a:t>파일</a:t>
            </a:r>
            <a:r>
              <a:rPr lang="en-US" altLang="ko-KR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P&amp;ID</a:t>
            </a:r>
            <a:r>
              <a:rPr lang="ko-KR" altLang="en-US" sz="1400" dirty="0"/>
              <a:t> 내에서 각 장비 간의 상대적 위치를 알 수 있음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기본적 계산 능력 및 상황에 따른 적정 사양 적용 여부를 도출</a:t>
            </a:r>
            <a:endParaRPr lang="en-US" altLang="ko-KR" sz="1400" dirty="0"/>
          </a:p>
          <a:p>
            <a:r>
              <a:rPr lang="en-US" altLang="ko-KR" sz="1400" dirty="0"/>
              <a:t>      (</a:t>
            </a:r>
            <a:r>
              <a:rPr lang="ko-KR" altLang="en-US" sz="1400" dirty="0"/>
              <a:t>예시 </a:t>
            </a:r>
            <a:r>
              <a:rPr lang="en-US" altLang="ko-KR" sz="1400" dirty="0"/>
              <a:t>: (1). </a:t>
            </a:r>
            <a:r>
              <a:rPr lang="ko-KR" altLang="en-US" sz="1400" dirty="0"/>
              <a:t>배관 내 해수</a:t>
            </a:r>
            <a:r>
              <a:rPr lang="en-US" altLang="ko-KR" sz="1400" dirty="0"/>
              <a:t> </a:t>
            </a:r>
            <a:r>
              <a:rPr lang="ko-KR" altLang="en-US" sz="1400" dirty="0"/>
              <a:t>유속 </a:t>
            </a:r>
            <a:r>
              <a:rPr lang="en-US" altLang="ko-KR" sz="1400" dirty="0"/>
              <a:t>3m/s</a:t>
            </a:r>
            <a:r>
              <a:rPr lang="ko-KR" altLang="en-US" sz="1400" dirty="0"/>
              <a:t>에 맞게 사이즈 선정하였는가</a:t>
            </a:r>
            <a:r>
              <a:rPr lang="en-US" altLang="ko-KR" sz="1400" dirty="0"/>
              <a:t>?</a:t>
            </a:r>
          </a:p>
          <a:p>
            <a:r>
              <a:rPr lang="en-US" altLang="ko-KR" sz="1400" dirty="0"/>
              <a:t>                   (2). Mixing pump </a:t>
            </a:r>
            <a:r>
              <a:rPr lang="ko-KR" altLang="en-US" sz="1400" dirty="0"/>
              <a:t>용량 선정은 </a:t>
            </a:r>
            <a:r>
              <a:rPr lang="en-US" altLang="ko-KR" sz="1400" dirty="0"/>
              <a:t>Ballast pump </a:t>
            </a:r>
            <a:r>
              <a:rPr lang="ko-KR" altLang="en-US" sz="1400" dirty="0"/>
              <a:t>용량의 </a:t>
            </a:r>
            <a:r>
              <a:rPr lang="en-US" altLang="ko-KR" sz="1400" dirty="0"/>
              <a:t>4.3%</a:t>
            </a:r>
            <a:r>
              <a:rPr lang="ko-KR" altLang="en-US" sz="1400" dirty="0"/>
              <a:t>에 맞는가</a:t>
            </a:r>
            <a:r>
              <a:rPr lang="en-US" altLang="ko-KR" sz="1400" dirty="0"/>
              <a:t>? </a:t>
            </a:r>
            <a:r>
              <a:rPr lang="ko-KR" altLang="en-US" sz="1400" dirty="0"/>
              <a:t>등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E4D0EB3-8BE4-9504-AA60-D71F5F26C680}"/>
              </a:ext>
            </a:extLst>
          </p:cNvPr>
          <p:cNvGrpSpPr/>
          <p:nvPr/>
        </p:nvGrpSpPr>
        <p:grpSpPr>
          <a:xfrm>
            <a:off x="199525" y="816242"/>
            <a:ext cx="4956734" cy="3517633"/>
            <a:chOff x="377266" y="863867"/>
            <a:chExt cx="6168328" cy="4391526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0B57B5FC-BDAF-19AA-20D2-25398E514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266" y="863867"/>
              <a:ext cx="6168328" cy="4391526"/>
            </a:xfrm>
            <a:prstGeom prst="rect">
              <a:avLst/>
            </a:prstGeom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D8EE593-0A3F-F059-CD59-CC5E5585FCEA}"/>
                </a:ext>
              </a:extLst>
            </p:cNvPr>
            <p:cNvSpPr/>
            <p:nvPr/>
          </p:nvSpPr>
          <p:spPr>
            <a:xfrm>
              <a:off x="3869356" y="3782729"/>
              <a:ext cx="827772" cy="87589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7AF2AE0E-02D0-00DC-59B6-3D88B3F4139C}"/>
                </a:ext>
              </a:extLst>
            </p:cNvPr>
            <p:cNvSpPr/>
            <p:nvPr/>
          </p:nvSpPr>
          <p:spPr>
            <a:xfrm>
              <a:off x="2289209" y="2703095"/>
              <a:ext cx="299987" cy="28073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9A70374-1C43-F2F6-139F-B84EE754A37D}"/>
                </a:ext>
              </a:extLst>
            </p:cNvPr>
            <p:cNvSpPr/>
            <p:nvPr/>
          </p:nvSpPr>
          <p:spPr>
            <a:xfrm>
              <a:off x="4328962" y="3014312"/>
              <a:ext cx="650232" cy="29562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1123CE6-52C1-3CC4-1243-C9D364EA9E2D}"/>
              </a:ext>
            </a:extLst>
          </p:cNvPr>
          <p:cNvGrpSpPr/>
          <p:nvPr/>
        </p:nvGrpSpPr>
        <p:grpSpPr>
          <a:xfrm>
            <a:off x="5084551" y="1525964"/>
            <a:ext cx="4692387" cy="2224288"/>
            <a:chOff x="5494126" y="1545014"/>
            <a:chExt cx="4692387" cy="2224288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EB0D0F3C-033B-7C62-6558-7B1D10842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95772"/>
            <a:stretch>
              <a:fillRect/>
            </a:stretch>
          </p:blipFill>
          <p:spPr>
            <a:xfrm>
              <a:off x="5494126" y="1545014"/>
              <a:ext cx="239924" cy="2224288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9772662B-1958-E45A-8AC1-A0E789AE3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992" r="621"/>
            <a:stretch>
              <a:fillRect/>
            </a:stretch>
          </p:blipFill>
          <p:spPr>
            <a:xfrm>
              <a:off x="5738338" y="1545014"/>
              <a:ext cx="4448175" cy="2224288"/>
            </a:xfrm>
            <a:prstGeom prst="rect">
              <a:avLst/>
            </a:prstGeom>
          </p:spPr>
        </p:pic>
      </p:grp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642C824-305B-F55E-1C52-35BE6C59F8EA}"/>
              </a:ext>
            </a:extLst>
          </p:cNvPr>
          <p:cNvCxnSpPr>
            <a:cxnSpLocks/>
          </p:cNvCxnSpPr>
          <p:nvPr/>
        </p:nvCxnSpPr>
        <p:spPr>
          <a:xfrm>
            <a:off x="4155866" y="2657158"/>
            <a:ext cx="797134" cy="2153"/>
          </a:xfrm>
          <a:prstGeom prst="straightConnector1">
            <a:avLst/>
          </a:prstGeom>
          <a:ln w="635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399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144F3-1A3E-55B1-9AB7-6119B134F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BFB9F7D-6765-C450-71C4-53A8BBFF9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01" y="880877"/>
            <a:ext cx="4731344" cy="3317813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F274339F-48E7-9D3C-7D09-48D30F82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5" y="210348"/>
            <a:ext cx="7027752" cy="3600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1-2. Valve Signal List </a:t>
            </a:r>
            <a:r>
              <a:rPr lang="ko-KR" altLang="en-US" dirty="0"/>
              <a:t>작성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5A3F643-158C-E94E-F035-88F9852EB137}"/>
              </a:ext>
            </a:extLst>
          </p:cNvPr>
          <p:cNvCxnSpPr>
            <a:cxnSpLocks/>
          </p:cNvCxnSpPr>
          <p:nvPr/>
        </p:nvCxnSpPr>
        <p:spPr>
          <a:xfrm>
            <a:off x="4155866" y="2657158"/>
            <a:ext cx="797134" cy="2153"/>
          </a:xfrm>
          <a:prstGeom prst="straightConnector1">
            <a:avLst/>
          </a:prstGeom>
          <a:ln w="635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78C9254-E84D-DC2E-15BE-7EFEDB23B2DF}"/>
              </a:ext>
            </a:extLst>
          </p:cNvPr>
          <p:cNvSpPr txBox="1"/>
          <p:nvPr/>
        </p:nvSpPr>
        <p:spPr>
          <a:xfrm>
            <a:off x="534374" y="4613021"/>
            <a:ext cx="91721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도면 상 </a:t>
            </a:r>
            <a:r>
              <a:rPr lang="en-US" altLang="ko-KR" sz="1400" dirty="0"/>
              <a:t>‘SIGNAL FOR BWMS’ </a:t>
            </a:r>
            <a:r>
              <a:rPr lang="ko-KR" altLang="en-US" sz="1400" dirty="0"/>
              <a:t>문구가 적용된 밸브들을 추출 및 </a:t>
            </a:r>
            <a:r>
              <a:rPr lang="en-US" altLang="ko-KR" sz="1400" dirty="0"/>
              <a:t>SIGNAL LIST</a:t>
            </a:r>
            <a:r>
              <a:rPr lang="ko-KR" altLang="en-US" sz="1400" dirty="0"/>
              <a:t>에 해당 밸브들을 역할과 함께 기입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당사 표준에 따라 밸브들 사이 알람 조건을 우측 노란 셀에 기입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필요 알람 조건이 도면 상에 누락된 경우 사용자에게 밸브 </a:t>
            </a:r>
            <a:r>
              <a:rPr lang="en-US" altLang="ko-KR" sz="1400" dirty="0"/>
              <a:t>SIGNAL </a:t>
            </a:r>
            <a:r>
              <a:rPr lang="ko-KR" altLang="en-US" sz="1400" dirty="0"/>
              <a:t>누락 사실을 알림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0CA4878-08DD-1E5C-6B8B-F492EBC35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4156" y="1530727"/>
            <a:ext cx="4662319" cy="225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744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B1ED4-011C-E06E-06AD-65DE37C66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3199635-977C-B330-99B7-61A2AF5E83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283" y="880877"/>
            <a:ext cx="4727779" cy="3317813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52825F95-191B-8B0D-AAB2-ACBB12843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5" y="210348"/>
            <a:ext cx="7027752" cy="3600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1-3. Equipment List</a:t>
            </a:r>
            <a:r>
              <a:rPr lang="ko-KR" altLang="en-US" dirty="0"/>
              <a:t>작성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4B7DBC7-5E46-C5CF-4CDC-951C7A207250}"/>
              </a:ext>
            </a:extLst>
          </p:cNvPr>
          <p:cNvCxnSpPr>
            <a:cxnSpLocks/>
          </p:cNvCxnSpPr>
          <p:nvPr/>
        </p:nvCxnSpPr>
        <p:spPr>
          <a:xfrm>
            <a:off x="4155866" y="2657158"/>
            <a:ext cx="797134" cy="2153"/>
          </a:xfrm>
          <a:prstGeom prst="straightConnector1">
            <a:avLst/>
          </a:prstGeom>
          <a:ln w="635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96EDB73-A838-F6A2-0AE8-208F5F7DFC9F}"/>
              </a:ext>
            </a:extLst>
          </p:cNvPr>
          <p:cNvSpPr txBox="1"/>
          <p:nvPr/>
        </p:nvSpPr>
        <p:spPr>
          <a:xfrm>
            <a:off x="534374" y="4613021"/>
            <a:ext cx="9172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P&amp;ID</a:t>
            </a:r>
            <a:r>
              <a:rPr lang="ko-KR" altLang="en-US" sz="1400" dirty="0"/>
              <a:t>상 당사 공급으로 표시된 장비들을 인식하고 </a:t>
            </a:r>
            <a:r>
              <a:rPr lang="en-US" altLang="ko-KR" sz="1400" dirty="0"/>
              <a:t>Equipment List</a:t>
            </a:r>
            <a:r>
              <a:rPr lang="ko-KR" altLang="en-US" sz="1400" dirty="0"/>
              <a:t>를 작성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4821AA-6655-7B3E-CA54-FB841BF2D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424" y="897002"/>
            <a:ext cx="4146484" cy="352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779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259DD-E61E-BED6-BF4D-2F9B0575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E1E1D59-D5DD-27F9-7B5A-FFFE54A47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4519" y="1622166"/>
            <a:ext cx="5205516" cy="2916133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3D81B24F-89EA-EBC4-EA16-9289ED3D6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5" y="210348"/>
            <a:ext cx="7027752" cy="3600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1-4. Deviation List </a:t>
            </a:r>
            <a:r>
              <a:rPr lang="ko-KR" altLang="en-US" dirty="0"/>
              <a:t>작성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0A3B573-FF15-5501-33C0-43E354684ED6}"/>
              </a:ext>
            </a:extLst>
          </p:cNvPr>
          <p:cNvCxnSpPr>
            <a:cxnSpLocks/>
          </p:cNvCxnSpPr>
          <p:nvPr/>
        </p:nvCxnSpPr>
        <p:spPr>
          <a:xfrm>
            <a:off x="3721277" y="3299471"/>
            <a:ext cx="797134" cy="2153"/>
          </a:xfrm>
          <a:prstGeom prst="straightConnector1">
            <a:avLst/>
          </a:prstGeom>
          <a:ln w="635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79DB019-B075-7D40-EA6B-3E9AFDDA8FB8}"/>
              </a:ext>
            </a:extLst>
          </p:cNvPr>
          <p:cNvSpPr txBox="1"/>
          <p:nvPr/>
        </p:nvSpPr>
        <p:spPr>
          <a:xfrm>
            <a:off x="601704" y="5847232"/>
            <a:ext cx="9172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조선소 </a:t>
            </a:r>
            <a:r>
              <a:rPr lang="en-US" altLang="ko-KR" sz="1400" dirty="0"/>
              <a:t>POS </a:t>
            </a:r>
            <a:r>
              <a:rPr lang="ko-KR" altLang="en-US" sz="1400" dirty="0"/>
              <a:t>중 당사 표준과 상이한 부분 및 영업팀 협의가 필요한 부분을 </a:t>
            </a:r>
            <a:r>
              <a:rPr lang="en-US" altLang="ko-KR" sz="1400" dirty="0"/>
              <a:t>Deviation </a:t>
            </a:r>
            <a:r>
              <a:rPr lang="ko-KR" altLang="en-US" sz="1400" dirty="0"/>
              <a:t>사항으로 기입</a:t>
            </a:r>
            <a:endParaRPr lang="en-US" altLang="ko-KR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5E5A31B-D4D0-2D90-50D5-37A5F74F8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04" y="702991"/>
            <a:ext cx="3013465" cy="49108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90033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425F5-66C6-EF24-EF53-3E2E661C5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5847725-F81D-4BEA-9A98-711B5F9FBBCF}"/>
              </a:ext>
            </a:extLst>
          </p:cNvPr>
          <p:cNvSpPr txBox="1">
            <a:spLocks/>
          </p:cNvSpPr>
          <p:nvPr/>
        </p:nvSpPr>
        <p:spPr>
          <a:xfrm>
            <a:off x="618792" y="1439501"/>
            <a:ext cx="7822563" cy="1387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>
                <a:solidFill>
                  <a:schemeClr val="accent1"/>
                </a:solidFill>
              </a:rPr>
              <a:t>향후 추가적으로 고려될 수 있는 기능</a:t>
            </a:r>
          </a:p>
        </p:txBody>
      </p:sp>
    </p:spTree>
    <p:extLst>
      <p:ext uri="{BB962C8B-B14F-4D97-AF65-F5344CB8AC3E}">
        <p14:creationId xmlns:p14="http://schemas.microsoft.com/office/powerpoint/2010/main" val="2902409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AD849-EF31-99FB-61B8-487C2BC76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CC3EAC4C-913A-CCE5-5423-E5FBF36D1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4" y="210348"/>
            <a:ext cx="9416114" cy="3600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2-1. </a:t>
            </a:r>
            <a:r>
              <a:rPr lang="ko-KR" altLang="en-US" dirty="0"/>
              <a:t>설계 조건들을 입력 받고</a:t>
            </a:r>
            <a:r>
              <a:rPr lang="en-US" altLang="ko-KR" dirty="0"/>
              <a:t>, </a:t>
            </a:r>
            <a:r>
              <a:rPr lang="ko-KR" altLang="en-US" dirty="0"/>
              <a:t>미리 학습한 모듈들은 선정 및 조합하여 </a:t>
            </a:r>
            <a:r>
              <a:rPr lang="en-US" altLang="ko-KR" dirty="0"/>
              <a:t>P&amp;ID </a:t>
            </a:r>
            <a:r>
              <a:rPr lang="ko-KR" altLang="en-US" dirty="0"/>
              <a:t>작성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3A5E46-508A-AD75-5249-B15A63F1EDC5}"/>
              </a:ext>
            </a:extLst>
          </p:cNvPr>
          <p:cNvSpPr txBox="1"/>
          <p:nvPr/>
        </p:nvSpPr>
        <p:spPr>
          <a:xfrm>
            <a:off x="173257" y="3291837"/>
            <a:ext cx="11069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68B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ECS </a:t>
            </a:r>
            <a:r>
              <a:rPr lang="ko-KR" altLang="en-US" dirty="0"/>
              <a:t>모델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3A8FC0-68DA-F295-3F93-E2220A594BA8}"/>
              </a:ext>
            </a:extLst>
          </p:cNvPr>
          <p:cNvSpPr txBox="1"/>
          <p:nvPr/>
        </p:nvSpPr>
        <p:spPr>
          <a:xfrm>
            <a:off x="173256" y="4059528"/>
            <a:ext cx="11069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68B6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   조선소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3E164F-59E9-A5B3-9502-7A0A75E8507C}"/>
              </a:ext>
            </a:extLst>
          </p:cNvPr>
          <p:cNvSpPr txBox="1"/>
          <p:nvPr/>
        </p:nvSpPr>
        <p:spPr>
          <a:xfrm>
            <a:off x="173256" y="4827219"/>
            <a:ext cx="11069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68B6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     선급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11307AD-E45B-3D2A-6B85-4C58CF5CFF1D}"/>
              </a:ext>
            </a:extLst>
          </p:cNvPr>
          <p:cNvCxnSpPr>
            <a:cxnSpLocks/>
          </p:cNvCxnSpPr>
          <p:nvPr/>
        </p:nvCxnSpPr>
        <p:spPr>
          <a:xfrm flipV="1">
            <a:off x="1360038" y="4242041"/>
            <a:ext cx="978901" cy="2153"/>
          </a:xfrm>
          <a:prstGeom prst="straightConnector1">
            <a:avLst/>
          </a:prstGeom>
          <a:ln w="635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원호 11">
            <a:extLst>
              <a:ext uri="{FF2B5EF4-FFF2-40B4-BE49-F238E27FC236}">
                <a16:creationId xmlns:a16="http://schemas.microsoft.com/office/drawing/2014/main" id="{D801E886-FB2C-7F1B-BCA8-A4B485BD4F76}"/>
              </a:ext>
            </a:extLst>
          </p:cNvPr>
          <p:cNvSpPr/>
          <p:nvPr/>
        </p:nvSpPr>
        <p:spPr>
          <a:xfrm>
            <a:off x="902838" y="3786994"/>
            <a:ext cx="914400" cy="914400"/>
          </a:xfrm>
          <a:prstGeom prst="arc">
            <a:avLst>
              <a:gd name="adj1" fmla="val 16200000"/>
              <a:gd name="adj2" fmla="val 5432433"/>
            </a:avLst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66107FE-DE38-43BB-EEE9-D838772AE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966" y="3129029"/>
            <a:ext cx="3117034" cy="222602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B2FFB00-0EA9-5B5E-E4DA-72CA3329CC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72096" y="3142740"/>
            <a:ext cx="3115181" cy="2226024"/>
          </a:xfrm>
          <a:prstGeom prst="rect">
            <a:avLst/>
          </a:prstGeom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2EB4D15-5266-2096-F4D8-B17662758F5E}"/>
              </a:ext>
            </a:extLst>
          </p:cNvPr>
          <p:cNvCxnSpPr>
            <a:cxnSpLocks/>
          </p:cNvCxnSpPr>
          <p:nvPr/>
        </p:nvCxnSpPr>
        <p:spPr>
          <a:xfrm>
            <a:off x="5520434" y="4242041"/>
            <a:ext cx="1101256" cy="2153"/>
          </a:xfrm>
          <a:prstGeom prst="straightConnector1">
            <a:avLst/>
          </a:prstGeom>
          <a:ln w="635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A8B58003-6BE3-4E6B-7741-0EF7958C2E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6183" y="913818"/>
            <a:ext cx="3965608" cy="16243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BB6B7-0F2B-250E-DC8D-920C77D33996}"/>
              </a:ext>
            </a:extLst>
          </p:cNvPr>
          <p:cNvSpPr txBox="1"/>
          <p:nvPr/>
        </p:nvSpPr>
        <p:spPr>
          <a:xfrm>
            <a:off x="4554856" y="4587377"/>
            <a:ext cx="4133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</a:rPr>
              <a:t>학습된 모듈들을 바탕으로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ko-KR" altLang="en-US" sz="1400" b="1" dirty="0">
                <a:solidFill>
                  <a:srgbClr val="FF0000"/>
                </a:solidFill>
              </a:rPr>
              <a:t>조선소 </a:t>
            </a:r>
            <a:r>
              <a:rPr lang="en-US" altLang="ko-KR" sz="1400" b="1" dirty="0">
                <a:solidFill>
                  <a:srgbClr val="FF0000"/>
                </a:solidFill>
              </a:rPr>
              <a:t>POS </a:t>
            </a:r>
            <a:r>
              <a:rPr lang="ko-KR" altLang="en-US" sz="1400" b="1" dirty="0">
                <a:solidFill>
                  <a:srgbClr val="FF0000"/>
                </a:solidFill>
              </a:rPr>
              <a:t>및 선급 </a:t>
            </a:r>
            <a:r>
              <a:rPr lang="en-US" altLang="ko-KR" sz="1400" b="1" dirty="0">
                <a:solidFill>
                  <a:srgbClr val="FF0000"/>
                </a:solidFill>
              </a:rPr>
              <a:t>RULE</a:t>
            </a:r>
            <a:r>
              <a:rPr lang="ko-KR" altLang="en-US" sz="1400" b="1" dirty="0">
                <a:solidFill>
                  <a:srgbClr val="FF0000"/>
                </a:solidFill>
              </a:rPr>
              <a:t>에 부합하도록 </a:t>
            </a:r>
            <a:r>
              <a:rPr lang="en-US" altLang="ko-KR" sz="1400" b="1" dirty="0">
                <a:solidFill>
                  <a:srgbClr val="FF0000"/>
                </a:solidFill>
              </a:rPr>
              <a:t>P&amp;ID </a:t>
            </a:r>
            <a:r>
              <a:rPr lang="ko-KR" altLang="en-US" sz="1400" b="1" dirty="0">
                <a:solidFill>
                  <a:srgbClr val="FF0000"/>
                </a:solidFill>
              </a:rPr>
              <a:t>작성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760B2C-161D-BFF5-2422-54FF2A0FF88D}"/>
              </a:ext>
            </a:extLst>
          </p:cNvPr>
          <p:cNvSpPr txBox="1"/>
          <p:nvPr/>
        </p:nvSpPr>
        <p:spPr>
          <a:xfrm>
            <a:off x="2774455" y="2321693"/>
            <a:ext cx="1054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학습된 모듈</a:t>
            </a: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278F0335-0606-082C-B2D0-45339C883065}"/>
              </a:ext>
            </a:extLst>
          </p:cNvPr>
          <p:cNvCxnSpPr/>
          <p:nvPr/>
        </p:nvCxnSpPr>
        <p:spPr>
          <a:xfrm rot="5400000">
            <a:off x="3567301" y="2206075"/>
            <a:ext cx="1062559" cy="539015"/>
          </a:xfrm>
          <a:prstGeom prst="bentConnector3">
            <a:avLst>
              <a:gd name="adj1" fmla="val -72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FC66D16-963E-8183-467A-98714A44D4A9}"/>
              </a:ext>
            </a:extLst>
          </p:cNvPr>
          <p:cNvSpPr txBox="1"/>
          <p:nvPr/>
        </p:nvSpPr>
        <p:spPr>
          <a:xfrm>
            <a:off x="269612" y="2834963"/>
            <a:ext cx="948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0068B6"/>
                </a:solidFill>
              </a:rPr>
              <a:t>설계 조건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13DD592-BE98-9094-4831-C3A7D912C69F}"/>
              </a:ext>
            </a:extLst>
          </p:cNvPr>
          <p:cNvSpPr/>
          <p:nvPr/>
        </p:nvSpPr>
        <p:spPr>
          <a:xfrm>
            <a:off x="78903" y="3160751"/>
            <a:ext cx="1262566" cy="222602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14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93E9-C1DC-F4E5-4CD1-60E1A0204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507A5C3A-D661-1C2E-8DEE-A49A590A3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5" y="210348"/>
            <a:ext cx="7027752" cy="3600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2-2. Flow Diagram </a:t>
            </a:r>
            <a:r>
              <a:rPr lang="ko-KR" altLang="en-US" dirty="0"/>
              <a:t>작성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15C33C-865D-6EFD-4E9B-BD8C8DBE1536}"/>
              </a:ext>
            </a:extLst>
          </p:cNvPr>
          <p:cNvSpPr txBox="1"/>
          <p:nvPr/>
        </p:nvSpPr>
        <p:spPr>
          <a:xfrm>
            <a:off x="568819" y="5035541"/>
            <a:ext cx="8696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시스템을 이해하여 </a:t>
            </a:r>
            <a:r>
              <a:rPr lang="en-US" altLang="ko-KR" sz="1400" dirty="0"/>
              <a:t>Flow Diagram </a:t>
            </a:r>
            <a:r>
              <a:rPr lang="ko-KR" altLang="en-US" sz="1400" dirty="0"/>
              <a:t>작성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CA42F1-7163-7FB4-82F8-669580BF1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16" y="1116530"/>
            <a:ext cx="4407397" cy="313783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C5D17EB-5F04-ABF5-0E31-0FF62CED32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3578" y="1116530"/>
            <a:ext cx="4407397" cy="3118305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584C43B-25FC-7DDF-E7F8-580629D576DD}"/>
              </a:ext>
            </a:extLst>
          </p:cNvPr>
          <p:cNvCxnSpPr>
            <a:cxnSpLocks/>
          </p:cNvCxnSpPr>
          <p:nvPr/>
        </p:nvCxnSpPr>
        <p:spPr>
          <a:xfrm>
            <a:off x="4477585" y="2768404"/>
            <a:ext cx="797134" cy="2153"/>
          </a:xfrm>
          <a:prstGeom prst="straightConnector1">
            <a:avLst/>
          </a:prstGeom>
          <a:ln w="635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556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261BC-A875-22DF-9FB5-1A4009A0F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9A05DE92-77BD-79CD-EE9A-A8E11EE58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5" y="210348"/>
            <a:ext cx="7027752" cy="3600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2-3. </a:t>
            </a:r>
            <a:r>
              <a:rPr lang="ko-KR" altLang="en-US" dirty="0"/>
              <a:t>사내 </a:t>
            </a:r>
            <a:r>
              <a:rPr lang="en-US" altLang="ko-KR" dirty="0"/>
              <a:t>ERP </a:t>
            </a:r>
            <a:r>
              <a:rPr lang="ko-KR" altLang="en-US" dirty="0"/>
              <a:t>접근 및 검색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9C696-E60F-DAF4-6896-E900F4802587}"/>
              </a:ext>
            </a:extLst>
          </p:cNvPr>
          <p:cNvSpPr txBox="1"/>
          <p:nvPr/>
        </p:nvSpPr>
        <p:spPr>
          <a:xfrm>
            <a:off x="604837" y="5151337"/>
            <a:ext cx="8696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사내 </a:t>
            </a:r>
            <a:r>
              <a:rPr lang="en-US" altLang="ko-KR" sz="1400" dirty="0"/>
              <a:t>ERP</a:t>
            </a:r>
            <a:r>
              <a:rPr lang="ko-KR" altLang="en-US" sz="1400" dirty="0"/>
              <a:t>에 접근하여 도면 및 이력 검색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사용자가 </a:t>
            </a:r>
            <a:r>
              <a:rPr lang="en-US" altLang="ko-KR" sz="1400" dirty="0"/>
              <a:t>‘WOOYANG LEADER </a:t>
            </a:r>
            <a:r>
              <a:rPr lang="ko-KR" altLang="en-US" sz="1400" dirty="0"/>
              <a:t>프로젝트에 대해 알려줘</a:t>
            </a:r>
            <a:r>
              <a:rPr lang="en-US" altLang="ko-KR" sz="1400" dirty="0"/>
              <a:t>.’</a:t>
            </a:r>
            <a:r>
              <a:rPr lang="ko-KR" altLang="en-US" sz="1400" dirty="0"/>
              <a:t>라고 요청 시</a:t>
            </a:r>
            <a:r>
              <a:rPr lang="en-US" altLang="ko-KR" sz="1400" dirty="0"/>
              <a:t>, </a:t>
            </a:r>
            <a:r>
              <a:rPr lang="ko-KR" altLang="en-US" sz="1400" dirty="0"/>
              <a:t>검색한 내용을 정리하여 사용자에게 제공</a:t>
            </a:r>
            <a:endParaRPr lang="en-US" altLang="ko-KR" sz="1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BAB7490-5503-C182-80BB-7F868F83B1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4218"/>
          <a:stretch>
            <a:fillRect/>
          </a:stretch>
        </p:blipFill>
        <p:spPr>
          <a:xfrm>
            <a:off x="0" y="667966"/>
            <a:ext cx="9906000" cy="132446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A7596BA-2856-EFAE-F0CF-DFFD838537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251" b="8788"/>
          <a:stretch>
            <a:fillRect/>
          </a:stretch>
        </p:blipFill>
        <p:spPr>
          <a:xfrm>
            <a:off x="0" y="1965960"/>
            <a:ext cx="990600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195149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2021 테크로스A">
      <a:dk1>
        <a:sysClr val="windowText" lastClr="000000"/>
      </a:dk1>
      <a:lt1>
        <a:sysClr val="window" lastClr="FFFFFF"/>
      </a:lt1>
      <a:dk2>
        <a:srgbClr val="002856"/>
      </a:dk2>
      <a:lt2>
        <a:srgbClr val="E2E2E2"/>
      </a:lt2>
      <a:accent1>
        <a:srgbClr val="0068B6"/>
      </a:accent1>
      <a:accent2>
        <a:srgbClr val="6B9265"/>
      </a:accent2>
      <a:accent3>
        <a:srgbClr val="8F7465"/>
      </a:accent3>
      <a:accent4>
        <a:srgbClr val="5E8C95"/>
      </a:accent4>
      <a:accent5>
        <a:srgbClr val="A54762"/>
      </a:accent5>
      <a:accent6>
        <a:srgbClr val="968AB2"/>
      </a:accent6>
      <a:hlink>
        <a:srgbClr val="5B9BD5"/>
      </a:hlink>
      <a:folHlink>
        <a:srgbClr val="FFC000"/>
      </a:folHlink>
    </a:clrScheme>
    <a:fontScheme name="2021 테크로스 v.1.1">
      <a:majorFont>
        <a:latin typeface="Myriad Pro Black"/>
        <a:ea typeface="Noto Sans CJK KR Bold"/>
        <a:cs typeface=""/>
      </a:majorFont>
      <a:minorFont>
        <a:latin typeface="Noto Sans CJK KR Regular"/>
        <a:ea typeface="Noto Sans CJK KR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테마1" id="{0424B233-31E4-43A5-9EDC-4B62074B16C9}" vid="{B4039208-DBBE-41CA-A24F-1F7050A08DE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2021 TECHCROSS PPT Template_v1.2</Template>
  <TotalTime>29124</TotalTime>
  <Words>580</Words>
  <Application>Microsoft Office PowerPoint</Application>
  <PresentationFormat>A4 용지(210x297mm)</PresentationFormat>
  <Paragraphs>96</Paragraphs>
  <Slides>12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Noto Sans CJK KR Regular</vt:lpstr>
      <vt:lpstr>맑은 고딕</vt:lpstr>
      <vt:lpstr>야놀자 야체 B</vt:lpstr>
      <vt:lpstr>Arial</vt:lpstr>
      <vt:lpstr>Myriad Pro Black</vt:lpstr>
      <vt:lpstr>테마1</vt:lpstr>
      <vt:lpstr>PowerPoint 프레젠테이션</vt:lpstr>
      <vt:lpstr>I. AI 활용한 도면 검토</vt:lpstr>
      <vt:lpstr>I. AI 활용한 도면 검토</vt:lpstr>
      <vt:lpstr>PowerPoint 프레젠테이션</vt:lpstr>
      <vt:lpstr>1-1. P&amp;ID 인식 및 체크리스트 검토</vt:lpstr>
      <vt:lpstr>1-2. Valve Signal List 작성</vt:lpstr>
      <vt:lpstr>1-3. Equipment List작성</vt:lpstr>
      <vt:lpstr>1-4. Deviation List 작성</vt:lpstr>
      <vt:lpstr>PowerPoint 프레젠테이션</vt:lpstr>
      <vt:lpstr>2-1. 설계 조건들을 입력 받고, 미리 학습한 모듈들은 선정 및 조합하여 P&amp;ID 작성</vt:lpstr>
      <vt:lpstr>2-2. Flow Diagram 작성</vt:lpstr>
      <vt:lpstr>2-3. 사내 ERP 접근 및 검색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2021년 4월 결산 보고</dc:title>
  <dc:creator>Yeong Hun Noh</dc:creator>
  <cp:lastModifiedBy>김수민</cp:lastModifiedBy>
  <cp:revision>1050</cp:revision>
  <cp:lastPrinted>2025-02-23T23:53:19Z</cp:lastPrinted>
  <dcterms:created xsi:type="dcterms:W3CDTF">2021-05-26T06:10:57Z</dcterms:created>
  <dcterms:modified xsi:type="dcterms:W3CDTF">2025-12-10T07:11:42Z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eyJub2RlMSI6eyJkc2QiOiIwMTAwMDAwMDAwMDAyMDEwIiwibG9nVGltZSI6IjIwMjQtMTAtMzBUMDQ6MzY6MjhaIiwicElEIjoxLCJwcm9jZXNzTmFtZSI6IlBPV0VSUE5ULkVYRSIsInRyYWNlSWQiOiJBRjY1NDJERENFMEI0QkEzODk1RkUzMDlBMEQ3MEQ3MyIsInVzZXJDb2RlIjoia3NoIn0sIm5vZGUyIjp7ImRzZCI6IjAxMDAwMDA</vt:lpwstr>
  </property>
</Properties>
</file>